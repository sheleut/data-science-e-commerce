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D1D2C-0EF5-4E34-BCBD-FE3495AB6790}" v="328" dt="2026-09-20T15:36:05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7022" autoAdjust="0"/>
  </p:normalViewPr>
  <p:slideViewPr>
    <p:cSldViewPr snapToGrid="0" snapToObjects="1">
      <p:cViewPr varScale="1">
        <p:scale>
          <a:sx n="63" d="100"/>
          <a:sy n="63" d="100"/>
        </p:scale>
        <p:origin x="23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yl Leutenegger" userId="ccac080b-0674-43f0-9f15-93446994dfca" providerId="ADAL" clId="{A5DFF430-26DF-4DAE-8A58-4E148FC8CB6A}"/>
    <pc:docChg chg="undo redo custSel modSld">
      <pc:chgData name="Sheryl Leutenegger" userId="ccac080b-0674-43f0-9f15-93446994dfca" providerId="ADAL" clId="{A5DFF430-26DF-4DAE-8A58-4E148FC8CB6A}" dt="2026-09-20T15:07:36.029" v="326" actId="207"/>
      <pc:docMkLst>
        <pc:docMk/>
      </pc:docMkLst>
      <pc:sldChg chg="addSp delSp modSp mod">
        <pc:chgData name="Sheryl Leutenegger" userId="ccac080b-0674-43f0-9f15-93446994dfca" providerId="ADAL" clId="{A5DFF430-26DF-4DAE-8A58-4E148FC8CB6A}" dt="2026-09-20T14:52:48.690" v="159" actId="26606"/>
        <pc:sldMkLst>
          <pc:docMk/>
          <pc:sldMk cId="0" sldId="256"/>
        </pc:sldMkLst>
        <pc:spChg chg="add del mod">
          <ac:chgData name="Sheryl Leutenegger" userId="ccac080b-0674-43f0-9f15-93446994dfca" providerId="ADAL" clId="{A5DFF430-26DF-4DAE-8A58-4E148FC8CB6A}" dt="2026-09-20T14:52:48.690" v="159" actId="2660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Sheryl Leutenegger" userId="ccac080b-0674-43f0-9f15-93446994dfca" providerId="ADAL" clId="{A5DFF430-26DF-4DAE-8A58-4E148FC8CB6A}" dt="2026-09-20T14:51:01.239" v="34"/>
          <ac:spMkLst>
            <pc:docMk/>
            <pc:sldMk cId="0" sldId="256"/>
            <ac:spMk id="4" creationId="{7021B4B7-014A-55B9-E828-839A0D7B9BFF}"/>
          </ac:spMkLst>
        </pc:spChg>
        <pc:spChg chg="add mod">
          <ac:chgData name="Sheryl Leutenegger" userId="ccac080b-0674-43f0-9f15-93446994dfca" providerId="ADAL" clId="{A5DFF430-26DF-4DAE-8A58-4E148FC8CB6A}" dt="2026-09-20T14:51:34.280" v="89" actId="1076"/>
          <ac:spMkLst>
            <pc:docMk/>
            <pc:sldMk cId="0" sldId="256"/>
            <ac:spMk id="5" creationId="{6A8E9D8E-6D7C-42D2-D842-57F0146DC61D}"/>
          </ac:spMkLst>
        </pc:spChg>
        <pc:graphicFrameChg chg="add del">
          <ac:chgData name="Sheryl Leutenegger" userId="ccac080b-0674-43f0-9f15-93446994dfca" providerId="ADAL" clId="{A5DFF430-26DF-4DAE-8A58-4E148FC8CB6A}" dt="2026-09-20T14:52:48.690" v="159" actId="26606"/>
          <ac:graphicFrameMkLst>
            <pc:docMk/>
            <pc:sldMk cId="0" sldId="256"/>
            <ac:graphicFrameMk id="7" creationId="{4999516F-ADE9-CB9E-1D33-0CDFBCD080AE}"/>
          </ac:graphicFrameMkLst>
        </pc:graphicFrameChg>
      </pc:sldChg>
      <pc:sldChg chg="addSp delSp modSp mod">
        <pc:chgData name="Sheryl Leutenegger" userId="ccac080b-0674-43f0-9f15-93446994dfca" providerId="ADAL" clId="{A5DFF430-26DF-4DAE-8A58-4E148FC8CB6A}" dt="2026-09-20T15:05:00.441" v="292" actId="403"/>
        <pc:sldMkLst>
          <pc:docMk/>
          <pc:sldMk cId="0" sldId="257"/>
        </pc:sldMkLst>
        <pc:spChg chg="mod">
          <ac:chgData name="Sheryl Leutenegger" userId="ccac080b-0674-43f0-9f15-93446994dfca" providerId="ADAL" clId="{A5DFF430-26DF-4DAE-8A58-4E148FC8CB6A}" dt="2026-09-20T15:04:51.520" v="289" actId="403"/>
          <ac:spMkLst>
            <pc:docMk/>
            <pc:sldMk cId="0" sldId="257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4:53.838" v="290" actId="403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4:56.993" v="291" actId="403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5:00.441" v="292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0:01.594" v="241" actId="113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Sheryl Leutenegger" userId="ccac080b-0674-43f0-9f15-93446994dfca" providerId="ADAL" clId="{A5DFF430-26DF-4DAE-8A58-4E148FC8CB6A}" dt="2026-09-20T15:00:04.890" v="242" actId="107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Sheryl Leutenegger" userId="ccac080b-0674-43f0-9f15-93446994dfca" providerId="ADAL" clId="{A5DFF430-26DF-4DAE-8A58-4E148FC8CB6A}" dt="2026-09-20T15:07:36.029" v="326" actId="207"/>
        <pc:sldMkLst>
          <pc:docMk/>
          <pc:sldMk cId="0" sldId="258"/>
        </pc:sldMkLst>
        <pc:spChg chg="mod">
          <ac:chgData name="Sheryl Leutenegger" userId="ccac080b-0674-43f0-9f15-93446994dfca" providerId="ADAL" clId="{A5DFF430-26DF-4DAE-8A58-4E148FC8CB6A}" dt="2026-09-20T15:01:39.618" v="25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36.029" v="326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4:15.149" v="167" actId="1076"/>
          <ac:spMkLst>
            <pc:docMk/>
            <pc:sldMk cId="0" sldId="258"/>
            <ac:spMk id="8" creationId="{00000000-0000-0000-0000-000000000000}"/>
          </ac:spMkLst>
        </pc:spChg>
        <pc:graphicFrameChg chg="mod modGraphic">
          <ac:chgData name="Sheryl Leutenegger" userId="ccac080b-0674-43f0-9f15-93446994dfca" providerId="ADAL" clId="{A5DFF430-26DF-4DAE-8A58-4E148FC8CB6A}" dt="2026-09-20T14:56:09.649" v="197" actId="403"/>
          <ac:graphicFrameMkLst>
            <pc:docMk/>
            <pc:sldMk cId="0" sldId="258"/>
            <ac:graphicFrameMk id="7" creationId="{00000000-0000-0000-0000-000000000000}"/>
          </ac:graphicFrameMkLst>
        </pc:graphicFrameChg>
        <pc:picChg chg="mod">
          <ac:chgData name="Sheryl Leutenegger" userId="ccac080b-0674-43f0-9f15-93446994dfca" providerId="ADAL" clId="{A5DFF430-26DF-4DAE-8A58-4E148FC8CB6A}" dt="2026-09-20T14:54:27.491" v="171" actId="1076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Sheryl Leutenegger" userId="ccac080b-0674-43f0-9f15-93446994dfca" providerId="ADAL" clId="{A5DFF430-26DF-4DAE-8A58-4E148FC8CB6A}" dt="2026-09-20T15:06:41.627" v="314" actId="207"/>
        <pc:sldMkLst>
          <pc:docMk/>
          <pc:sldMk cId="0" sldId="259"/>
        </pc:sldMkLst>
        <pc:spChg chg="mod">
          <ac:chgData name="Sheryl Leutenegger" userId="ccac080b-0674-43f0-9f15-93446994dfca" providerId="ADAL" clId="{A5DFF430-26DF-4DAE-8A58-4E148FC8CB6A}" dt="2026-09-20T15:00:29.773" v="24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2:24.717" v="261" actId="10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2:46.152" v="26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6:37.876" v="313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6:41.627" v="314" actId="207"/>
          <ac:spMkLst>
            <pc:docMk/>
            <pc:sldMk cId="0" sldId="259"/>
            <ac:spMk id="7" creationId="{00000000-0000-0000-0000-000000000000}"/>
          </ac:spMkLst>
        </pc:spChg>
        <pc:picChg chg="mod">
          <ac:chgData name="Sheryl Leutenegger" userId="ccac080b-0674-43f0-9f15-93446994dfca" providerId="ADAL" clId="{A5DFF430-26DF-4DAE-8A58-4E148FC8CB6A}" dt="2026-09-20T15:02:35.957" v="262" actId="1076"/>
          <ac:picMkLst>
            <pc:docMk/>
            <pc:sldMk cId="0" sldId="259"/>
            <ac:picMk id="5" creationId="{00000000-0000-0000-0000-000000000000}"/>
          </ac:picMkLst>
        </pc:picChg>
      </pc:sldChg>
      <pc:sldChg chg="modSp mod">
        <pc:chgData name="Sheryl Leutenegger" userId="ccac080b-0674-43f0-9f15-93446994dfca" providerId="ADAL" clId="{A5DFF430-26DF-4DAE-8A58-4E148FC8CB6A}" dt="2026-09-20T15:06:19.739" v="310" actId="207"/>
        <pc:sldMkLst>
          <pc:docMk/>
          <pc:sldMk cId="0" sldId="260"/>
        </pc:sldMkLst>
        <pc:spChg chg="mod">
          <ac:chgData name="Sheryl Leutenegger" userId="ccac080b-0674-43f0-9f15-93446994dfca" providerId="ADAL" clId="{A5DFF430-26DF-4DAE-8A58-4E148FC8CB6A}" dt="2026-09-20T15:02:58.113" v="267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6:13.620" v="308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4:39.125" v="28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6:19.739" v="310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5:29.260" v="184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5:29.260" v="184" actId="1076"/>
          <ac:spMkLst>
            <pc:docMk/>
            <pc:sldMk cId="0" sldId="260"/>
            <ac:spMk id="10" creationId="{00000000-0000-0000-0000-000000000000}"/>
          </ac:spMkLst>
        </pc:spChg>
        <pc:graphicFrameChg chg="mod modGraphic">
          <ac:chgData name="Sheryl Leutenegger" userId="ccac080b-0674-43f0-9f15-93446994dfca" providerId="ADAL" clId="{A5DFF430-26DF-4DAE-8A58-4E148FC8CB6A}" dt="2026-09-20T14:56:02.590" v="195" actId="403"/>
          <ac:graphicFrameMkLst>
            <pc:docMk/>
            <pc:sldMk cId="0" sldId="260"/>
            <ac:graphicFrameMk id="7" creationId="{00000000-0000-0000-0000-000000000000}"/>
          </ac:graphicFrameMkLst>
        </pc:graphicFrameChg>
      </pc:sldChg>
      <pc:sldChg chg="addSp delSp modSp mod">
        <pc:chgData name="Sheryl Leutenegger" userId="ccac080b-0674-43f0-9f15-93446994dfca" providerId="ADAL" clId="{A5DFF430-26DF-4DAE-8A58-4E148FC8CB6A}" dt="2026-09-20T15:07:04.672" v="320" actId="207"/>
        <pc:sldMkLst>
          <pc:docMk/>
          <pc:sldMk cId="0" sldId="261"/>
        </pc:sldMkLst>
        <pc:spChg chg="mod">
          <ac:chgData name="Sheryl Leutenegger" userId="ccac080b-0674-43f0-9f15-93446994dfca" providerId="ADAL" clId="{A5DFF430-26DF-4DAE-8A58-4E148FC8CB6A}" dt="2026-09-20T15:03:06.813" v="268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04.672" v="320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3:57.089" v="280" actId="403"/>
          <ac:spMkLst>
            <pc:docMk/>
            <pc:sldMk cId="0" sldId="261"/>
            <ac:spMk id="7" creationId="{00000000-0000-0000-0000-000000000000}"/>
          </ac:spMkLst>
        </pc:spChg>
        <pc:spChg chg="add del mod">
          <ac:chgData name="Sheryl Leutenegger" userId="ccac080b-0674-43f0-9f15-93446994dfca" providerId="ADAL" clId="{A5DFF430-26DF-4DAE-8A58-4E148FC8CB6A}" dt="2026-09-20T14:56:31.902" v="205"/>
          <ac:spMkLst>
            <pc:docMk/>
            <pc:sldMk cId="0" sldId="261"/>
            <ac:spMk id="9" creationId="{6AEBCF89-C112-0930-A63A-8D77708F64F5}"/>
          </ac:spMkLst>
        </pc:spChg>
        <pc:picChg chg="mod">
          <ac:chgData name="Sheryl Leutenegger" userId="ccac080b-0674-43f0-9f15-93446994dfca" providerId="ADAL" clId="{A5DFF430-26DF-4DAE-8A58-4E148FC8CB6A}" dt="2026-09-20T15:04:17.096" v="285" actId="1076"/>
          <ac:picMkLst>
            <pc:docMk/>
            <pc:sldMk cId="0" sldId="261"/>
            <ac:picMk id="5" creationId="{00000000-0000-0000-0000-000000000000}"/>
          </ac:picMkLst>
        </pc:picChg>
      </pc:sldChg>
      <pc:sldChg chg="addSp delSp modSp mod">
        <pc:chgData name="Sheryl Leutenegger" userId="ccac080b-0674-43f0-9f15-93446994dfca" providerId="ADAL" clId="{A5DFF430-26DF-4DAE-8A58-4E148FC8CB6A}" dt="2026-09-20T15:07:11.103" v="321" actId="207"/>
        <pc:sldMkLst>
          <pc:docMk/>
          <pc:sldMk cId="0" sldId="262"/>
        </pc:sldMkLst>
        <pc:spChg chg="add del mod">
          <ac:chgData name="Sheryl Leutenegger" userId="ccac080b-0674-43f0-9f15-93446994dfca" providerId="ADAL" clId="{A5DFF430-26DF-4DAE-8A58-4E148FC8CB6A}" dt="2026-09-20T15:03:14.714" v="269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9:05.756" v="229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9:05.756" v="22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9:05.756" v="22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11.103" v="321" actId="207"/>
          <ac:spMkLst>
            <pc:docMk/>
            <pc:sldMk cId="0" sldId="262"/>
            <ac:spMk id="8" creationId="{00000000-0000-0000-0000-000000000000}"/>
          </ac:spMkLst>
        </pc:spChg>
      </pc:sldChg>
      <pc:sldChg chg="delSp modSp mod">
        <pc:chgData name="Sheryl Leutenegger" userId="ccac080b-0674-43f0-9f15-93446994dfca" providerId="ADAL" clId="{A5DFF430-26DF-4DAE-8A58-4E148FC8CB6A}" dt="2026-09-20T15:07:24.113" v="325" actId="207"/>
        <pc:sldMkLst>
          <pc:docMk/>
          <pc:sldMk cId="0" sldId="263"/>
        </pc:sldMkLst>
        <pc:spChg chg="del">
          <ac:chgData name="Sheryl Leutenegger" userId="ccac080b-0674-43f0-9f15-93446994dfca" providerId="ADAL" clId="{A5DFF430-26DF-4DAE-8A58-4E148FC8CB6A}" dt="2026-09-20T14:58:00.068" v="217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8:05.825" v="218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16.851" v="322" actId="207"/>
          <ac:spMkLst>
            <pc:docMk/>
            <pc:sldMk cId="0" sldId="263"/>
            <ac:spMk id="6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8:05.825" v="21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18.716" v="323" actId="207"/>
          <ac:spMkLst>
            <pc:docMk/>
            <pc:sldMk cId="0" sldId="263"/>
            <ac:spMk id="8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8:05.825" v="218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21.517" v="324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8:05.825" v="218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5:07:24.113" v="325" actId="20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heryl Leutenegger" userId="ccac080b-0674-43f0-9f15-93446994dfca" providerId="ADAL" clId="{A5DFF430-26DF-4DAE-8A58-4E148FC8CB6A}" dt="2026-09-20T14:59:26.275" v="232" actId="1076"/>
          <ac:spMkLst>
            <pc:docMk/>
            <pc:sldMk cId="0" sldId="263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59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[0:00 - 0:30  |  30 Sekunden]</a:t>
            </a:r>
          </a:p>
          <a:p>
            <a:endParaRPr/>
          </a:p>
          <a:p>
            <a:r>
              <a:t>Kurz begruessen und die Leitfrage stellen.</a:t>
            </a:r>
          </a:p>
          <a:p>
            <a:endParaRPr/>
          </a:p>
          <a:p>
            <a:r>
              <a:t>"Jeder kennt das: Man bestellt etwas online und wartet. Meine Frage war, ob man schon</a:t>
            </a:r>
          </a:p>
          <a:p>
            <a:r>
              <a:t>beim Bestelleingang vorhersagen kann, ob eine Lieferung zu spaet kommt."</a:t>
            </a:r>
          </a:p>
          <a:p>
            <a:endParaRPr/>
          </a:p>
          <a:p>
            <a:r>
              <a:t>Nicht laenger aufhalten - direkt zur naechsten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[0:30 - 2:00  |  90 </a:t>
            </a:r>
            <a:r>
              <a:rPr dirty="0" err="1"/>
              <a:t>Sekunden</a:t>
            </a:r>
            <a:r>
              <a:rPr dirty="0"/>
              <a:t>]</a:t>
            </a:r>
          </a:p>
          <a:p>
            <a:endParaRPr dirty="0"/>
          </a:p>
          <a:p>
            <a:r>
              <a:rPr dirty="0" err="1"/>
              <a:t>Datensatz</a:t>
            </a:r>
            <a:r>
              <a:rPr dirty="0"/>
              <a:t> </a:t>
            </a:r>
            <a:r>
              <a:rPr dirty="0" err="1"/>
              <a:t>vorstellen</a:t>
            </a:r>
            <a:r>
              <a:rPr dirty="0"/>
              <a:t>: </a:t>
            </a:r>
            <a:r>
              <a:rPr dirty="0" err="1"/>
              <a:t>internationaler</a:t>
            </a:r>
            <a:endParaRPr dirty="0"/>
          </a:p>
          <a:p>
            <a:r>
              <a:rPr dirty="0" err="1"/>
              <a:t>Elektronikhaendler</a:t>
            </a:r>
            <a:r>
              <a:rPr dirty="0"/>
              <a:t>, 10.999 </a:t>
            </a:r>
            <a:r>
              <a:rPr dirty="0" err="1"/>
              <a:t>Bestellungen</a:t>
            </a:r>
            <a:r>
              <a:rPr dirty="0"/>
              <a:t>, 11 </a:t>
            </a:r>
            <a:r>
              <a:rPr dirty="0" err="1"/>
              <a:t>Merkmale</a:t>
            </a:r>
            <a:r>
              <a:rPr dirty="0"/>
              <a:t> - </a:t>
            </a:r>
            <a:r>
              <a:rPr dirty="0" err="1"/>
              <a:t>Gewicht</a:t>
            </a:r>
            <a:r>
              <a:rPr dirty="0"/>
              <a:t>, </a:t>
            </a:r>
            <a:r>
              <a:rPr dirty="0" err="1"/>
              <a:t>Versandart</a:t>
            </a:r>
            <a:r>
              <a:rPr dirty="0"/>
              <a:t>, </a:t>
            </a:r>
            <a:r>
              <a:rPr dirty="0" err="1"/>
              <a:t>Rabatt</a:t>
            </a:r>
            <a:r>
              <a:rPr dirty="0"/>
              <a:t>,</a:t>
            </a:r>
          </a:p>
          <a:p>
            <a:r>
              <a:rPr dirty="0" err="1"/>
              <a:t>Kundendaten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wichtigste</a:t>
            </a:r>
            <a:r>
              <a:rPr dirty="0"/>
              <a:t> Zahl auf </a:t>
            </a:r>
            <a:r>
              <a:rPr dirty="0" err="1"/>
              <a:t>dieser</a:t>
            </a:r>
            <a:r>
              <a:rPr dirty="0"/>
              <a:t> Folie </a:t>
            </a:r>
            <a:r>
              <a:rPr dirty="0" err="1"/>
              <a:t>ist</a:t>
            </a:r>
            <a:r>
              <a:rPr dirty="0"/>
              <a:t> 59,7 </a:t>
            </a:r>
            <a:r>
              <a:rPr dirty="0" err="1"/>
              <a:t>Prozent</a:t>
            </a:r>
            <a:r>
              <a:rPr dirty="0"/>
              <a:t>: So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Lieferungen</a:t>
            </a:r>
            <a:r>
              <a:rPr dirty="0"/>
              <a:t> </a:t>
            </a:r>
            <a:r>
              <a:rPr dirty="0" err="1"/>
              <a:t>kamen</a:t>
            </a:r>
            <a:r>
              <a:rPr dirty="0"/>
              <a:t> </a:t>
            </a:r>
            <a:r>
              <a:rPr dirty="0" err="1"/>
              <a:t>zu</a:t>
            </a:r>
            <a:endParaRPr dirty="0"/>
          </a:p>
          <a:p>
            <a:r>
              <a:rPr dirty="0" err="1"/>
              <a:t>spaet</a:t>
            </a:r>
            <a:r>
              <a:rPr dirty="0"/>
              <a:t>. </a:t>
            </a:r>
            <a:r>
              <a:rPr dirty="0" err="1"/>
              <a:t>Verspaetung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also der </a:t>
            </a:r>
            <a:r>
              <a:rPr dirty="0" err="1"/>
              <a:t>Normalfall</a:t>
            </a:r>
            <a:r>
              <a:rPr dirty="0"/>
              <a:t>, nicht die </a:t>
            </a:r>
            <a:r>
              <a:rPr dirty="0" err="1"/>
              <a:t>Ausnahme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Diese</a:t>
            </a:r>
            <a:r>
              <a:rPr dirty="0"/>
              <a:t> Zahl </a:t>
            </a:r>
            <a:r>
              <a:rPr dirty="0" err="1"/>
              <a:t>merken</a:t>
            </a:r>
            <a:r>
              <a:rPr dirty="0"/>
              <a:t> -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spaeter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Messlatte</a:t>
            </a:r>
            <a:r>
              <a:rPr dirty="0"/>
              <a:t> </a:t>
            </a:r>
            <a:r>
              <a:rPr dirty="0" err="1"/>
              <a:t>fuer</a:t>
            </a:r>
            <a:r>
              <a:rPr dirty="0"/>
              <a:t> das Modell.</a:t>
            </a:r>
          </a:p>
          <a:p>
            <a:endParaRPr dirty="0"/>
          </a:p>
          <a:p>
            <a:r>
              <a:rPr dirty="0" err="1"/>
              <a:t>Datenqualitaet</a:t>
            </a:r>
            <a:r>
              <a:rPr dirty="0"/>
              <a:t>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erwaehnen</a:t>
            </a:r>
            <a:r>
              <a:rPr dirty="0"/>
              <a:t>: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fehlenden</a:t>
            </a:r>
            <a:r>
              <a:rPr dirty="0"/>
              <a:t> </a:t>
            </a:r>
            <a:r>
              <a:rPr dirty="0" err="1"/>
              <a:t>Werte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Duplikate</a:t>
            </a:r>
            <a:r>
              <a:rPr dirty="0"/>
              <a:t> - </a:t>
            </a:r>
            <a:r>
              <a:rPr dirty="0" err="1"/>
              <a:t>ungewoehnlich</a:t>
            </a:r>
            <a:endParaRPr dirty="0"/>
          </a:p>
          <a:p>
            <a:r>
              <a:rPr dirty="0" err="1"/>
              <a:t>sauber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Dann die Business-Frage </a:t>
            </a:r>
            <a:r>
              <a:rPr dirty="0" err="1"/>
              <a:t>vorlesen</a:t>
            </a:r>
            <a:r>
              <a:rPr dirty="0"/>
              <a:t> und </a:t>
            </a:r>
            <a:r>
              <a:rPr dirty="0" err="1"/>
              <a:t>festhalten</a:t>
            </a:r>
            <a:r>
              <a:rPr dirty="0"/>
              <a:t>: </a:t>
            </a:r>
            <a:r>
              <a:rPr dirty="0" err="1"/>
              <a:t>binaere</a:t>
            </a:r>
            <a:r>
              <a:rPr dirty="0"/>
              <a:t> </a:t>
            </a:r>
            <a:r>
              <a:rPr dirty="0" err="1"/>
              <a:t>Klassifikation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[2:00 - 4:00  |  2 Minuten  (KERNFOLIE)]</a:t>
            </a:r>
          </a:p>
          <a:p>
            <a:endParaRPr/>
          </a:p>
          <a:p>
            <a:r>
              <a:t>Das ist die wichtigste Folie -</a:t>
            </a:r>
          </a:p>
          <a:p>
            <a:r>
              <a:t>hier Zeit lassen.</a:t>
            </a:r>
          </a:p>
          <a:p>
            <a:endParaRPr/>
          </a:p>
          <a:p>
            <a:r>
              <a:t>Zuerst den Boxplot erklaeren: Kasten = mittlere 50 Prozent, Strich = Median. Links die</a:t>
            </a:r>
          </a:p>
          <a:p>
            <a:r>
              <a:t>puenktlichen, rechts die verspaeteten Lieferungen.</a:t>
            </a:r>
          </a:p>
          <a:p>
            <a:endParaRPr/>
          </a:p>
          <a:p>
            <a:r>
              <a:t>Der Unterschied ist sofort sichtbar: 5,55 Prozent gegenueber 18,66 Prozent Rabatt -</a:t>
            </a:r>
          </a:p>
          <a:p>
            <a:r>
              <a:t>mehr als das Dreifache.</a:t>
            </a:r>
          </a:p>
          <a:p>
            <a:endParaRPr/>
          </a:p>
          <a:p>
            <a:r>
              <a:t>Dann die Tabelle: Es ist kein gleichmaessiger Anstieg, sondern eine harte Kante. Unter</a:t>
            </a:r>
          </a:p>
          <a:p>
            <a:r>
              <a:t>10 Prozent Rabatt sind knapp die Haelfte verspaetet. Ueber 10 Prozent: alle. Nicht die</a:t>
            </a:r>
          </a:p>
          <a:p>
            <a:r>
              <a:t>meisten - alle 2.647.</a:t>
            </a:r>
          </a:p>
          <a:p>
            <a:endParaRPr/>
          </a:p>
          <a:p>
            <a:r>
              <a:t>Hier eine kurze Pause machen, die Zahl wirken lassen.</a:t>
            </a:r>
          </a:p>
          <a:p>
            <a:endParaRPr/>
          </a:p>
          <a:p>
            <a:r>
              <a:t>Falls Frage kommt "warum?": Wir wissen es nicht - Korrelation ist keine Kausalitaet.</a:t>
            </a:r>
          </a:p>
          <a:p>
            <a:r>
              <a:t>Moegliche Erklaerung waeren Rabattaktionen mit hohem Bestellaufkommen.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[4:00 - 5:30  |  90 </a:t>
            </a:r>
            <a:r>
              <a:rPr dirty="0" err="1"/>
              <a:t>Sekunden</a:t>
            </a:r>
            <a:r>
              <a:rPr dirty="0"/>
              <a:t>]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Korrelationsmatrix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 -</a:t>
            </a:r>
          </a:p>
          <a:p>
            <a:r>
              <a:rPr dirty="0"/>
              <a:t>nicht Zelle </a:t>
            </a:r>
            <a:r>
              <a:rPr dirty="0" err="1"/>
              <a:t>fuer</a:t>
            </a:r>
            <a:r>
              <a:rPr dirty="0"/>
              <a:t> Zelle </a:t>
            </a:r>
            <a:r>
              <a:rPr dirty="0" err="1"/>
              <a:t>erklaeren</a:t>
            </a:r>
            <a:r>
              <a:rPr dirty="0"/>
              <a:t>. </a:t>
            </a:r>
            <a:r>
              <a:rPr dirty="0" err="1"/>
              <a:t>Wichtig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unterste</a:t>
            </a:r>
            <a:r>
              <a:rPr dirty="0"/>
              <a:t> Zeile: </a:t>
            </a:r>
            <a:r>
              <a:rPr dirty="0" err="1"/>
              <a:t>Rabatt</a:t>
            </a:r>
            <a:r>
              <a:rPr dirty="0"/>
              <a:t> 0,40, </a:t>
            </a:r>
            <a:r>
              <a:rPr dirty="0" err="1"/>
              <a:t>Gewicht</a:t>
            </a:r>
            <a:endParaRPr dirty="0"/>
          </a:p>
          <a:p>
            <a:r>
              <a:rPr dirty="0"/>
              <a:t>minus 0,27,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nahe</a:t>
            </a:r>
            <a:r>
              <a:rPr dirty="0"/>
              <a:t> null.</a:t>
            </a:r>
          </a:p>
          <a:p>
            <a:endParaRPr dirty="0"/>
          </a:p>
          <a:p>
            <a:r>
              <a:rPr dirty="0"/>
              <a:t>Der </a:t>
            </a:r>
            <a:r>
              <a:rPr dirty="0" err="1"/>
              <a:t>eigentliche</a:t>
            </a:r>
            <a:r>
              <a:rPr dirty="0"/>
              <a:t> </a:t>
            </a:r>
            <a:r>
              <a:rPr dirty="0" err="1"/>
              <a:t>Punkt</a:t>
            </a:r>
            <a:r>
              <a:rPr dirty="0"/>
              <a:t> </a:t>
            </a:r>
            <a:r>
              <a:rPr dirty="0" err="1"/>
              <a:t>dieser</a:t>
            </a:r>
            <a:r>
              <a:rPr dirty="0"/>
              <a:t> Folie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Lehre</a:t>
            </a:r>
            <a:r>
              <a:rPr dirty="0"/>
              <a:t> </a:t>
            </a:r>
            <a:r>
              <a:rPr dirty="0" err="1"/>
              <a:t>daraus</a:t>
            </a:r>
            <a:r>
              <a:rPr dirty="0"/>
              <a:t>: Beim </a:t>
            </a:r>
            <a:r>
              <a:rPr dirty="0" err="1"/>
              <a:t>Gewicht</a:t>
            </a:r>
            <a:r>
              <a:rPr dirty="0"/>
              <a:t> </a:t>
            </a:r>
            <a:r>
              <a:rPr dirty="0" err="1"/>
              <a:t>gibt</a:t>
            </a:r>
            <a:r>
              <a:rPr dirty="0"/>
              <a:t> es </a:t>
            </a:r>
            <a:r>
              <a:rPr dirty="0" err="1"/>
              <a:t>ein</a:t>
            </a:r>
            <a:endParaRPr dirty="0"/>
          </a:p>
          <a:p>
            <a:r>
              <a:rPr dirty="0" err="1"/>
              <a:t>kritisches</a:t>
            </a:r>
            <a:r>
              <a:rPr dirty="0"/>
              <a:t> Fenster </a:t>
            </a:r>
            <a:r>
              <a:rPr dirty="0" err="1"/>
              <a:t>zwischen</a:t>
            </a:r>
            <a:r>
              <a:rPr dirty="0"/>
              <a:t> 2 und 4 Kilo, wo </a:t>
            </a:r>
            <a:r>
              <a:rPr dirty="0" err="1"/>
              <a:t>praktisch</a:t>
            </a:r>
            <a:r>
              <a:rPr dirty="0"/>
              <a:t>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spaet</a:t>
            </a:r>
            <a:r>
              <a:rPr dirty="0"/>
              <a:t> </a:t>
            </a:r>
            <a:r>
              <a:rPr dirty="0" err="1"/>
              <a:t>kommt</a:t>
            </a:r>
            <a:r>
              <a:rPr dirty="0"/>
              <a:t>. </a:t>
            </a:r>
            <a:r>
              <a:rPr dirty="0" err="1"/>
              <a:t>Leichtere</a:t>
            </a:r>
            <a:endParaRPr dirty="0"/>
          </a:p>
          <a:p>
            <a:r>
              <a:rPr dirty="0"/>
              <a:t>und </a:t>
            </a:r>
            <a:r>
              <a:rPr dirty="0" err="1"/>
              <a:t>schwerere</a:t>
            </a:r>
            <a:r>
              <a:rPr dirty="0"/>
              <a:t> </a:t>
            </a:r>
            <a:r>
              <a:rPr dirty="0" err="1"/>
              <a:t>Pakete</a:t>
            </a:r>
            <a:r>
              <a:rPr dirty="0"/>
              <a:t> </a:t>
            </a:r>
            <a:r>
              <a:rPr dirty="0" err="1"/>
              <a:t>kommen</a:t>
            </a:r>
            <a:r>
              <a:rPr dirty="0"/>
              <a:t> </a:t>
            </a:r>
            <a:r>
              <a:rPr dirty="0" err="1"/>
              <a:t>deutlich</a:t>
            </a:r>
            <a:r>
              <a:rPr dirty="0"/>
              <a:t> </a:t>
            </a:r>
            <a:r>
              <a:rPr dirty="0" err="1"/>
              <a:t>puenktlicher</a:t>
            </a:r>
            <a:r>
              <a:rPr dirty="0"/>
              <a:t> an.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Korrelation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so </a:t>
            </a:r>
            <a:r>
              <a:rPr dirty="0" err="1"/>
              <a:t>etwas</a:t>
            </a:r>
            <a:r>
              <a:rPr dirty="0"/>
              <a:t> </a:t>
            </a:r>
            <a:r>
              <a:rPr dirty="0" err="1"/>
              <a:t>prinzipiell</a:t>
            </a:r>
            <a:r>
              <a:rPr dirty="0"/>
              <a:t> nicht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weil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geraden</a:t>
            </a:r>
            <a:endParaRPr dirty="0"/>
          </a:p>
          <a:p>
            <a:r>
              <a:rPr dirty="0"/>
              <a:t>Linien </a:t>
            </a:r>
            <a:r>
              <a:rPr dirty="0" err="1"/>
              <a:t>sucht</a:t>
            </a:r>
            <a:r>
              <a:rPr dirty="0"/>
              <a:t>. Die </a:t>
            </a:r>
            <a:r>
              <a:rPr dirty="0" err="1"/>
              <a:t>beiden</a:t>
            </a:r>
            <a:r>
              <a:rPr dirty="0"/>
              <a:t> </a:t>
            </a:r>
            <a:r>
              <a:rPr dirty="0" err="1"/>
              <a:t>Haelften</a:t>
            </a:r>
            <a:r>
              <a:rPr dirty="0"/>
              <a:t> </a:t>
            </a:r>
            <a:r>
              <a:rPr dirty="0" err="1"/>
              <a:t>heben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gegenseitig</a:t>
            </a:r>
            <a:r>
              <a:rPr dirty="0"/>
              <a:t> auf.</a:t>
            </a:r>
          </a:p>
          <a:p>
            <a:endParaRPr dirty="0"/>
          </a:p>
          <a:p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habe</a:t>
            </a:r>
            <a:r>
              <a:rPr dirty="0"/>
              <a:t> ich </a:t>
            </a:r>
            <a:r>
              <a:rPr dirty="0" err="1"/>
              <a:t>zwei</a:t>
            </a:r>
            <a:r>
              <a:rPr dirty="0"/>
              <a:t> Ja/Nein-</a:t>
            </a:r>
            <a:r>
              <a:rPr dirty="0" err="1"/>
              <a:t>Merkmale</a:t>
            </a:r>
            <a:r>
              <a:rPr dirty="0"/>
              <a:t> </a:t>
            </a:r>
            <a:r>
              <a:rPr dirty="0" err="1"/>
              <a:t>gebaut</a:t>
            </a:r>
            <a:r>
              <a:rPr dirty="0"/>
              <a:t>. </a:t>
            </a:r>
            <a:r>
              <a:rPr dirty="0" err="1"/>
              <a:t>Ergebnis</a:t>
            </a:r>
            <a:r>
              <a:rPr dirty="0"/>
              <a:t>: Beim </a:t>
            </a:r>
            <a:r>
              <a:rPr dirty="0" err="1"/>
              <a:t>Gewicht</a:t>
            </a:r>
            <a:r>
              <a:rPr dirty="0"/>
              <a:t> </a:t>
            </a:r>
            <a:r>
              <a:rPr dirty="0" err="1"/>
              <a:t>steigt</a:t>
            </a:r>
            <a:r>
              <a:rPr dirty="0"/>
              <a:t> der</a:t>
            </a:r>
          </a:p>
          <a:p>
            <a:r>
              <a:rPr dirty="0" err="1"/>
              <a:t>Zusammenhang</a:t>
            </a:r>
            <a:r>
              <a:rPr dirty="0"/>
              <a:t> von minus 0,27 auf 0,36.</a:t>
            </a:r>
          </a:p>
          <a:p>
            <a:endParaRPr dirty="0"/>
          </a:p>
          <a:p>
            <a:r>
              <a:rPr dirty="0" err="1"/>
              <a:t>Kernaussage</a:t>
            </a:r>
            <a:r>
              <a:rPr dirty="0"/>
              <a:t>: Erst die </a:t>
            </a:r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anschauen</a:t>
            </a:r>
            <a:r>
              <a:rPr dirty="0"/>
              <a:t>,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Merkmale</a:t>
            </a:r>
            <a:r>
              <a:rPr dirty="0"/>
              <a:t> </a:t>
            </a:r>
            <a:r>
              <a:rPr dirty="0" err="1"/>
              <a:t>bauen</a:t>
            </a:r>
            <a:r>
              <a:rPr dirty="0"/>
              <a:t> - nicht </a:t>
            </a:r>
            <a:r>
              <a:rPr dirty="0" err="1"/>
              <a:t>umgekehrt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[5:30 - 7:30  |  2 Minuten  (KERNFOLIE)]</a:t>
            </a:r>
          </a:p>
          <a:p>
            <a:endParaRPr dirty="0"/>
          </a:p>
          <a:p>
            <a:r>
              <a:rPr dirty="0" err="1"/>
              <a:t>Modellwahl</a:t>
            </a:r>
            <a:r>
              <a:rPr dirty="0"/>
              <a:t> in </a:t>
            </a:r>
            <a:r>
              <a:rPr dirty="0" err="1"/>
              <a:t>einem</a:t>
            </a:r>
            <a:r>
              <a:rPr dirty="0"/>
              <a:t> Satz je</a:t>
            </a:r>
          </a:p>
          <a:p>
            <a:r>
              <a:rPr dirty="0"/>
              <a:t>Modell - </a:t>
            </a:r>
            <a:r>
              <a:rPr dirty="0" err="1"/>
              <a:t>bewusst</a:t>
            </a:r>
            <a:r>
              <a:rPr dirty="0"/>
              <a:t>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Ansaetze</a:t>
            </a:r>
            <a:r>
              <a:rPr dirty="0"/>
              <a:t>: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einfaches</a:t>
            </a:r>
            <a:r>
              <a:rPr dirty="0"/>
              <a:t> </a:t>
            </a:r>
            <a:r>
              <a:rPr dirty="0" err="1"/>
              <a:t>lineares</a:t>
            </a:r>
            <a:r>
              <a:rPr dirty="0"/>
              <a:t> und </a:t>
            </a:r>
            <a:r>
              <a:rPr dirty="0" err="1"/>
              <a:t>ein</a:t>
            </a:r>
            <a:endParaRPr dirty="0"/>
          </a:p>
          <a:p>
            <a:r>
              <a:rPr dirty="0" err="1"/>
              <a:t>komplexes</a:t>
            </a:r>
            <a:r>
              <a:rPr dirty="0"/>
              <a:t> Baum-Modell.</a:t>
            </a:r>
          </a:p>
          <a:p>
            <a:endParaRPr dirty="0"/>
          </a:p>
          <a:p>
            <a:r>
              <a:rPr dirty="0"/>
              <a:t>Dann </a:t>
            </a:r>
            <a:r>
              <a:rPr dirty="0" err="1"/>
              <a:t>zu</a:t>
            </a:r>
            <a:r>
              <a:rPr dirty="0"/>
              <a:t> den </a:t>
            </a:r>
            <a:r>
              <a:rPr dirty="0" err="1"/>
              <a:t>Metriken</a:t>
            </a:r>
            <a:r>
              <a:rPr dirty="0"/>
              <a:t>.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unbedingt</a:t>
            </a:r>
            <a:r>
              <a:rPr dirty="0"/>
              <a:t> </a:t>
            </a:r>
            <a:r>
              <a:rPr dirty="0" err="1"/>
              <a:t>erklaeren</a:t>
            </a:r>
            <a:r>
              <a:rPr dirty="0"/>
              <a:t>, nicht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vorlesen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- Accuracy: Wie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Vorhersagen</a:t>
            </a:r>
            <a:r>
              <a:rPr dirty="0"/>
              <a:t> </a:t>
            </a:r>
            <a:r>
              <a:rPr dirty="0" err="1"/>
              <a:t>waren</a:t>
            </a:r>
            <a:r>
              <a:rPr dirty="0"/>
              <a:t> </a:t>
            </a:r>
            <a:r>
              <a:rPr dirty="0" err="1"/>
              <a:t>insgesamt</a:t>
            </a:r>
            <a:r>
              <a:rPr dirty="0"/>
              <a:t> </a:t>
            </a:r>
            <a:r>
              <a:rPr dirty="0" err="1"/>
              <a:t>richtig</a:t>
            </a:r>
            <a:r>
              <a:rPr dirty="0"/>
              <a:t>?</a:t>
            </a:r>
          </a:p>
          <a:p>
            <a:r>
              <a:rPr dirty="0"/>
              <a:t>- Precision: Wenn das Modell </a:t>
            </a:r>
            <a:r>
              <a:rPr dirty="0" err="1"/>
              <a:t>warnt</a:t>
            </a:r>
            <a:r>
              <a:rPr dirty="0"/>
              <a:t> - </a:t>
            </a:r>
            <a:r>
              <a:rPr dirty="0" err="1"/>
              <a:t>stimmt</a:t>
            </a:r>
            <a:r>
              <a:rPr dirty="0"/>
              <a:t> es </a:t>
            </a:r>
            <a:r>
              <a:rPr dirty="0" err="1"/>
              <a:t>dann</a:t>
            </a:r>
            <a:r>
              <a:rPr dirty="0"/>
              <a:t>?</a:t>
            </a:r>
          </a:p>
          <a:p>
            <a:r>
              <a:rPr dirty="0"/>
              <a:t>- Recall: Von </a:t>
            </a:r>
            <a:r>
              <a:rPr dirty="0" err="1"/>
              <a:t>allen</a:t>
            </a:r>
            <a:r>
              <a:rPr dirty="0"/>
              <a:t> </a:t>
            </a:r>
            <a:r>
              <a:rPr dirty="0" err="1"/>
              <a:t>echten</a:t>
            </a:r>
            <a:r>
              <a:rPr dirty="0"/>
              <a:t> </a:t>
            </a:r>
            <a:r>
              <a:rPr dirty="0" err="1"/>
              <a:t>Verspaetungen</a:t>
            </a:r>
            <a:r>
              <a:rPr dirty="0"/>
              <a:t> -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hat es </a:t>
            </a:r>
            <a:r>
              <a:rPr dirty="0" err="1"/>
              <a:t>gefunden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Der </a:t>
            </a:r>
            <a:r>
              <a:rPr dirty="0" err="1"/>
              <a:t>entscheidende</a:t>
            </a:r>
            <a:r>
              <a:rPr dirty="0"/>
              <a:t> </a:t>
            </a:r>
            <a:r>
              <a:rPr dirty="0" err="1"/>
              <a:t>Gegensatz</a:t>
            </a:r>
            <a:r>
              <a:rPr dirty="0"/>
              <a:t>: Precision 0,96, </a:t>
            </a:r>
            <a:r>
              <a:rPr dirty="0" err="1"/>
              <a:t>aber</a:t>
            </a:r>
            <a:r>
              <a:rPr dirty="0"/>
              <a:t> Recall </a:t>
            </a:r>
            <a:r>
              <a:rPr dirty="0" err="1"/>
              <a:t>nur</a:t>
            </a:r>
            <a:r>
              <a:rPr dirty="0"/>
              <a:t> 0,48.</a:t>
            </a:r>
          </a:p>
          <a:p>
            <a:endParaRPr dirty="0"/>
          </a:p>
          <a:p>
            <a:r>
              <a:rPr dirty="0"/>
              <a:t>Bild </a:t>
            </a:r>
            <a:r>
              <a:rPr dirty="0" err="1"/>
              <a:t>dazu</a:t>
            </a:r>
            <a:r>
              <a:rPr dirty="0"/>
              <a:t>: Das Modell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Wachmann, der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Einbruechen</a:t>
            </a:r>
            <a:r>
              <a:rPr dirty="0"/>
              <a:t> Alarm </a:t>
            </a:r>
            <a:r>
              <a:rPr dirty="0" err="1"/>
              <a:t>schlaegt</a:t>
            </a:r>
            <a:r>
              <a:rPr dirty="0"/>
              <a:t>, die</a:t>
            </a:r>
          </a:p>
          <a:p>
            <a:r>
              <a:rPr dirty="0"/>
              <a:t>er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sieht</a:t>
            </a:r>
            <a:r>
              <a:rPr dirty="0"/>
              <a:t>. </a:t>
            </a:r>
            <a:r>
              <a:rPr dirty="0" err="1"/>
              <a:t>Schlaegt</a:t>
            </a:r>
            <a:r>
              <a:rPr dirty="0"/>
              <a:t> er Alarm, hat er </a:t>
            </a:r>
            <a:r>
              <a:rPr dirty="0" err="1"/>
              <a:t>recht</a:t>
            </a:r>
            <a:r>
              <a:rPr dirty="0"/>
              <a:t> - </a:t>
            </a:r>
            <a:r>
              <a:rPr dirty="0" err="1"/>
              <a:t>aber</a:t>
            </a:r>
            <a:r>
              <a:rPr dirty="0"/>
              <a:t> er </a:t>
            </a:r>
            <a:r>
              <a:rPr dirty="0" err="1"/>
              <a:t>verschlaeft</a:t>
            </a:r>
            <a:r>
              <a:rPr dirty="0"/>
              <a:t> die </a:t>
            </a:r>
            <a:r>
              <a:rPr dirty="0" err="1"/>
              <a:t>Haelfte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Ehrlich </a:t>
            </a:r>
            <a:r>
              <a:rPr dirty="0" err="1"/>
              <a:t>bleiben</a:t>
            </a:r>
            <a:r>
              <a:rPr dirty="0"/>
              <a:t>: Die Baseline-</a:t>
            </a:r>
            <a:r>
              <a:rPr dirty="0" err="1"/>
              <a:t>Spalte</a:t>
            </a:r>
            <a:r>
              <a:rPr dirty="0"/>
              <a:t> </a:t>
            </a:r>
            <a:r>
              <a:rPr dirty="0" err="1"/>
              <a:t>ganz</a:t>
            </a:r>
            <a:r>
              <a:rPr dirty="0"/>
              <a:t>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stures</a:t>
            </a:r>
            <a:r>
              <a:rPr dirty="0"/>
              <a:t> </a:t>
            </a:r>
            <a:r>
              <a:rPr dirty="0" err="1"/>
              <a:t>Raten</a:t>
            </a:r>
            <a:r>
              <a:rPr dirty="0"/>
              <a:t> "immer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spaet</a:t>
            </a:r>
            <a:r>
              <a:rPr dirty="0"/>
              <a:t>". Bei</a:t>
            </a:r>
          </a:p>
          <a:p>
            <a:r>
              <a:rPr dirty="0"/>
              <a:t>Recall und F1 </a:t>
            </a:r>
            <a:r>
              <a:rPr dirty="0" err="1"/>
              <a:t>schlaegt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unser</a:t>
            </a:r>
            <a:r>
              <a:rPr dirty="0"/>
              <a:t> Modell. Nur </a:t>
            </a:r>
            <a:r>
              <a:rPr dirty="0" err="1"/>
              <a:t>bei</a:t>
            </a:r>
            <a:r>
              <a:rPr dirty="0"/>
              <a:t> Accuracy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besser</a:t>
            </a:r>
            <a:r>
              <a:rPr dirty="0"/>
              <a:t>. Das </a:t>
            </a:r>
            <a:r>
              <a:rPr dirty="0" err="1"/>
              <a:t>zeigt</a:t>
            </a:r>
            <a:r>
              <a:rPr dirty="0"/>
              <a:t>:</a:t>
            </a:r>
          </a:p>
          <a:p>
            <a:r>
              <a:rPr dirty="0"/>
              <a:t>Das Modell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vorsichtig</a:t>
            </a:r>
            <a:r>
              <a:rPr dirty="0"/>
              <a:t> </a:t>
            </a:r>
            <a:r>
              <a:rPr dirty="0" err="1"/>
              <a:t>eingestellt</a:t>
            </a:r>
            <a:r>
              <a:rPr dirty="0"/>
              <a:t> - </a:t>
            </a:r>
            <a:r>
              <a:rPr dirty="0" err="1"/>
              <a:t>dazu</a:t>
            </a:r>
            <a:r>
              <a:rPr dirty="0"/>
              <a:t> auf der </a:t>
            </a:r>
            <a:r>
              <a:rPr dirty="0" err="1"/>
              <a:t>letzten</a:t>
            </a:r>
            <a:r>
              <a:rPr dirty="0"/>
              <a:t> Folie </a:t>
            </a:r>
            <a:r>
              <a:rPr dirty="0" err="1"/>
              <a:t>mehr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[7:30 - 8:30  |  60 </a:t>
            </a:r>
            <a:r>
              <a:rPr dirty="0" err="1"/>
              <a:t>Sekunden</a:t>
            </a:r>
            <a:r>
              <a:rPr dirty="0"/>
              <a:t>]</a:t>
            </a:r>
          </a:p>
          <a:p>
            <a:endParaRPr dirty="0"/>
          </a:p>
          <a:p>
            <a:r>
              <a:rPr dirty="0"/>
              <a:t>Feature Importance </a:t>
            </a:r>
            <a:r>
              <a:rPr dirty="0" err="1"/>
              <a:t>zeigt</a:t>
            </a:r>
            <a:r>
              <a:rPr dirty="0"/>
              <a:t>, </a:t>
            </a:r>
            <a:r>
              <a:rPr dirty="0" err="1"/>
              <a:t>woran</a:t>
            </a:r>
            <a:r>
              <a:rPr dirty="0"/>
              <a:t> das Modell</a:t>
            </a:r>
          </a:p>
          <a:p>
            <a:r>
              <a:rPr dirty="0"/>
              <a:t>seine </a:t>
            </a:r>
            <a:r>
              <a:rPr dirty="0" err="1"/>
              <a:t>Entscheidung</a:t>
            </a:r>
            <a:r>
              <a:rPr dirty="0"/>
              <a:t> </a:t>
            </a:r>
            <a:r>
              <a:rPr dirty="0" err="1"/>
              <a:t>festmacht</a:t>
            </a:r>
            <a:r>
              <a:rPr dirty="0"/>
              <a:t>: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Drittel</a:t>
            </a:r>
            <a:r>
              <a:rPr dirty="0"/>
              <a:t> am </a:t>
            </a:r>
            <a:r>
              <a:rPr dirty="0" err="1"/>
              <a:t>Rabatt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Viertel am </a:t>
            </a:r>
            <a:r>
              <a:rPr dirty="0" err="1"/>
              <a:t>Gewicht</a:t>
            </a:r>
            <a:r>
              <a:rPr dirty="0"/>
              <a:t>, </a:t>
            </a:r>
            <a:r>
              <a:rPr dirty="0" err="1"/>
              <a:t>alles</a:t>
            </a:r>
            <a:endParaRPr dirty="0"/>
          </a:p>
          <a:p>
            <a:r>
              <a:rPr dirty="0" err="1"/>
              <a:t>andere</a:t>
            </a:r>
            <a:r>
              <a:rPr dirty="0"/>
              <a:t> </a:t>
            </a:r>
            <a:r>
              <a:rPr dirty="0" err="1"/>
              <a:t>zusammen</a:t>
            </a:r>
            <a:r>
              <a:rPr dirty="0"/>
              <a:t> </a:t>
            </a:r>
            <a:r>
              <a:rPr dirty="0" err="1"/>
              <a:t>unter</a:t>
            </a:r>
            <a:r>
              <a:rPr dirty="0"/>
              <a:t> 5 </a:t>
            </a:r>
            <a:r>
              <a:rPr dirty="0" err="1"/>
              <a:t>Prozent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Auffaellig</a:t>
            </a:r>
            <a:r>
              <a:rPr dirty="0"/>
              <a:t>: Die </a:t>
            </a:r>
            <a:r>
              <a:rPr dirty="0" err="1"/>
              <a:t>Versandart</a:t>
            </a:r>
            <a:r>
              <a:rPr dirty="0"/>
              <a:t> - </a:t>
            </a:r>
            <a:r>
              <a:rPr dirty="0" err="1"/>
              <a:t>Flugzeug</a:t>
            </a:r>
            <a:r>
              <a:rPr dirty="0"/>
              <a:t>, Schiff oder Strasse - </a:t>
            </a:r>
            <a:r>
              <a:rPr dirty="0" err="1"/>
              <a:t>spielt</a:t>
            </a:r>
            <a:r>
              <a:rPr dirty="0"/>
              <a:t> </a:t>
            </a:r>
            <a:r>
              <a:rPr dirty="0" err="1"/>
              <a:t>praktisch</a:t>
            </a:r>
            <a:r>
              <a:rPr dirty="0"/>
              <a:t> </a:t>
            </a:r>
            <a:r>
              <a:rPr dirty="0" err="1"/>
              <a:t>keine</a:t>
            </a:r>
            <a:endParaRPr dirty="0"/>
          </a:p>
          <a:p>
            <a:r>
              <a:rPr dirty="0"/>
              <a:t>Rolle. </a:t>
            </a:r>
            <a:r>
              <a:rPr dirty="0" err="1"/>
              <a:t>Fuer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Logistikdatensatz </a:t>
            </a:r>
            <a:r>
              <a:rPr dirty="0" err="1"/>
              <a:t>ist</a:t>
            </a:r>
            <a:r>
              <a:rPr dirty="0"/>
              <a:t> das </a:t>
            </a:r>
            <a:r>
              <a:rPr dirty="0" err="1"/>
              <a:t>schwer</a:t>
            </a:r>
            <a:r>
              <a:rPr dirty="0"/>
              <a:t> </a:t>
            </a:r>
            <a:r>
              <a:rPr dirty="0" err="1"/>
              <a:t>erklaerbar</a:t>
            </a:r>
            <a:r>
              <a:rPr dirty="0"/>
              <a:t>. </a:t>
            </a:r>
            <a:r>
              <a:rPr dirty="0" err="1"/>
              <a:t>Darauf</a:t>
            </a:r>
            <a:r>
              <a:rPr dirty="0"/>
              <a:t> </a:t>
            </a:r>
            <a:r>
              <a:rPr dirty="0" err="1"/>
              <a:t>komme</a:t>
            </a:r>
            <a:r>
              <a:rPr dirty="0"/>
              <a:t> ich </a:t>
            </a:r>
            <a:r>
              <a:rPr dirty="0" err="1"/>
              <a:t>im</a:t>
            </a:r>
            <a:endParaRPr dirty="0"/>
          </a:p>
          <a:p>
            <a:r>
              <a:rPr dirty="0" err="1"/>
              <a:t>Fazit</a:t>
            </a:r>
            <a:r>
              <a:rPr dirty="0"/>
              <a:t> </a:t>
            </a:r>
            <a:r>
              <a:rPr dirty="0" err="1"/>
              <a:t>zurueck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Der </a:t>
            </a:r>
            <a:r>
              <a:rPr dirty="0" err="1"/>
              <a:t>wichtigste</a:t>
            </a:r>
            <a:r>
              <a:rPr dirty="0"/>
              <a:t> </a:t>
            </a:r>
            <a:r>
              <a:rPr dirty="0" err="1"/>
              <a:t>Punkt</a:t>
            </a:r>
            <a:r>
              <a:rPr dirty="0"/>
              <a:t> </a:t>
            </a:r>
            <a:r>
              <a:rPr dirty="0" err="1"/>
              <a:t>dieser</a:t>
            </a:r>
            <a:r>
              <a:rPr dirty="0"/>
              <a:t> Folie: Das Modell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entweder</a:t>
            </a:r>
            <a:r>
              <a:rPr dirty="0"/>
              <a:t> </a:t>
            </a:r>
            <a:r>
              <a:rPr dirty="0" err="1"/>
              <a:t>voellig</a:t>
            </a:r>
            <a:r>
              <a:rPr dirty="0"/>
              <a:t> </a:t>
            </a:r>
            <a:r>
              <a:rPr dirty="0" err="1"/>
              <a:t>sicher</a:t>
            </a:r>
            <a:r>
              <a:rPr dirty="0"/>
              <a:t> oder es </a:t>
            </a:r>
            <a:r>
              <a:rPr dirty="0" err="1"/>
              <a:t>raet</a:t>
            </a:r>
            <a:r>
              <a:rPr dirty="0"/>
              <a:t>.</a:t>
            </a:r>
          </a:p>
          <a:p>
            <a:r>
              <a:rPr dirty="0"/>
              <a:t>Bei </a:t>
            </a:r>
            <a:r>
              <a:rPr dirty="0" err="1"/>
              <a:t>einem</a:t>
            </a:r>
            <a:r>
              <a:rPr dirty="0"/>
              <a:t> Viertel der </a:t>
            </a:r>
            <a:r>
              <a:rPr dirty="0" err="1"/>
              <a:t>Bestellungen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 es </a:t>
            </a:r>
            <a:r>
              <a:rPr dirty="0" err="1"/>
              <a:t>zu</a:t>
            </a:r>
            <a:r>
              <a:rPr dirty="0"/>
              <a:t> 100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richtig</a:t>
            </a:r>
            <a:r>
              <a:rPr dirty="0"/>
              <a:t>. Bei den </a:t>
            </a:r>
            <a:r>
              <a:rPr dirty="0" err="1"/>
              <a:t>restlichen</a:t>
            </a:r>
            <a:endParaRPr dirty="0"/>
          </a:p>
          <a:p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Vierteln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es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Muenzwurf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Das </a:t>
            </a:r>
            <a:r>
              <a:rPr dirty="0" err="1"/>
              <a:t>erklaert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den </a:t>
            </a:r>
            <a:r>
              <a:rPr dirty="0" err="1"/>
              <a:t>schwachen</a:t>
            </a:r>
            <a:r>
              <a:rPr dirty="0"/>
              <a:t> Recall von </a:t>
            </a:r>
            <a:r>
              <a:rPr dirty="0" err="1"/>
              <a:t>vorhin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[8:30 - 9:30  |  60 </a:t>
            </a:r>
            <a:r>
              <a:rPr dirty="0" err="1"/>
              <a:t>Sekunden</a:t>
            </a:r>
            <a:r>
              <a:rPr dirty="0"/>
              <a:t>]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Ausgangsfrage</a:t>
            </a:r>
            <a:r>
              <a:rPr dirty="0"/>
              <a:t> </a:t>
            </a:r>
            <a:r>
              <a:rPr dirty="0" err="1"/>
              <a:t>direkt</a:t>
            </a:r>
            <a:r>
              <a:rPr dirty="0"/>
              <a:t> </a:t>
            </a:r>
            <a:r>
              <a:rPr dirty="0" err="1"/>
              <a:t>beantworten</a:t>
            </a:r>
            <a:r>
              <a:rPr dirty="0"/>
              <a:t>:</a:t>
            </a:r>
          </a:p>
          <a:p>
            <a:r>
              <a:rPr dirty="0" err="1"/>
              <a:t>teilweise</a:t>
            </a:r>
            <a:r>
              <a:rPr dirty="0"/>
              <a:t>. </a:t>
            </a:r>
            <a:r>
              <a:rPr dirty="0" err="1"/>
              <a:t>Fuer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Viertel der </a:t>
            </a:r>
            <a:r>
              <a:rPr dirty="0" err="1"/>
              <a:t>Bestellungen</a:t>
            </a:r>
            <a:r>
              <a:rPr dirty="0"/>
              <a:t> ja, </a:t>
            </a:r>
            <a:r>
              <a:rPr dirty="0" err="1"/>
              <a:t>fuer</a:t>
            </a:r>
            <a:r>
              <a:rPr dirty="0"/>
              <a:t> den Rest </a:t>
            </a:r>
            <a:r>
              <a:rPr dirty="0" err="1"/>
              <a:t>nein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Ehrlich </a:t>
            </a:r>
            <a:r>
              <a:rPr dirty="0" err="1"/>
              <a:t>einordnen</a:t>
            </a:r>
            <a:r>
              <a:rPr dirty="0"/>
              <a:t>: </a:t>
            </a:r>
            <a:r>
              <a:rPr dirty="0" err="1"/>
              <a:t>Insgesamt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48 </a:t>
            </a:r>
            <a:r>
              <a:rPr dirty="0" err="1"/>
              <a:t>Prozent</a:t>
            </a:r>
            <a:r>
              <a:rPr dirty="0"/>
              <a:t> der </a:t>
            </a:r>
            <a:r>
              <a:rPr dirty="0" err="1"/>
              <a:t>Verspaetungen</a:t>
            </a:r>
            <a:r>
              <a:rPr dirty="0"/>
              <a:t> </a:t>
            </a:r>
            <a:r>
              <a:rPr dirty="0" err="1"/>
              <a:t>erkannt</a:t>
            </a:r>
            <a:r>
              <a:rPr dirty="0"/>
              <a:t>. </a:t>
            </a:r>
            <a:r>
              <a:rPr dirty="0" err="1"/>
              <a:t>Fuer</a:t>
            </a:r>
            <a:r>
              <a:rPr dirty="0"/>
              <a:t> </a:t>
            </a:r>
            <a:r>
              <a:rPr dirty="0" err="1"/>
              <a:t>ein</a:t>
            </a:r>
            <a:endParaRPr dirty="0"/>
          </a:p>
          <a:p>
            <a:r>
              <a:rPr dirty="0" err="1"/>
              <a:t>Fruehwarnsystem</a:t>
            </a:r>
            <a:r>
              <a:rPr dirty="0"/>
              <a:t> </a:t>
            </a:r>
            <a:r>
              <a:rPr dirty="0" err="1"/>
              <a:t>reicht</a:t>
            </a:r>
            <a:r>
              <a:rPr dirty="0"/>
              <a:t> das nicht.</a:t>
            </a:r>
          </a:p>
          <a:p>
            <a:endParaRPr dirty="0"/>
          </a:p>
          <a:p>
            <a:r>
              <a:rPr dirty="0" err="1"/>
              <a:t>Wichtig</a:t>
            </a:r>
            <a:r>
              <a:rPr dirty="0"/>
              <a:t>: Das Modell </a:t>
            </a:r>
            <a:r>
              <a:rPr dirty="0" err="1"/>
              <a:t>scheitert</a:t>
            </a:r>
            <a:r>
              <a:rPr dirty="0"/>
              <a:t> nicht am </a:t>
            </a:r>
            <a:r>
              <a:rPr dirty="0" err="1"/>
              <a:t>Verfahren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am </a:t>
            </a:r>
            <a:r>
              <a:rPr dirty="0" err="1"/>
              <a:t>Datensatz</a:t>
            </a:r>
            <a:r>
              <a:rPr dirty="0"/>
              <a:t>. Was</a:t>
            </a:r>
          </a:p>
          <a:p>
            <a:r>
              <a:rPr dirty="0" err="1"/>
              <a:t>Verspaetungen</a:t>
            </a:r>
            <a:r>
              <a:rPr dirty="0"/>
              <a:t> </a:t>
            </a:r>
            <a:r>
              <a:rPr dirty="0" err="1"/>
              <a:t>wirklich</a:t>
            </a:r>
            <a:r>
              <a:rPr dirty="0"/>
              <a:t> </a:t>
            </a:r>
            <a:r>
              <a:rPr dirty="0" err="1"/>
              <a:t>verursacht</a:t>
            </a:r>
            <a:r>
              <a:rPr dirty="0"/>
              <a:t> - </a:t>
            </a:r>
            <a:r>
              <a:rPr dirty="0" err="1"/>
              <a:t>Entfernung</a:t>
            </a:r>
            <a:r>
              <a:rPr dirty="0"/>
              <a:t>, Wetter, Zoll, </a:t>
            </a:r>
            <a:r>
              <a:rPr dirty="0" err="1"/>
              <a:t>Auslastung</a:t>
            </a:r>
            <a:r>
              <a:rPr dirty="0"/>
              <a:t> - </a:t>
            </a:r>
            <a:r>
              <a:rPr dirty="0" err="1"/>
              <a:t>steht</a:t>
            </a:r>
            <a:endParaRPr dirty="0"/>
          </a:p>
          <a:p>
            <a:r>
              <a:rPr dirty="0" err="1"/>
              <a:t>nirgends</a:t>
            </a:r>
            <a:r>
              <a:rPr dirty="0"/>
              <a:t> </a:t>
            </a:r>
            <a:r>
              <a:rPr dirty="0" err="1"/>
              <a:t>drin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Zum </a:t>
            </a:r>
            <a:r>
              <a:rPr dirty="0" err="1"/>
              <a:t>Schluss</a:t>
            </a:r>
            <a:r>
              <a:rPr dirty="0"/>
              <a:t> der </a:t>
            </a:r>
            <a:r>
              <a:rPr dirty="0" err="1"/>
              <a:t>kritische</a:t>
            </a:r>
            <a:r>
              <a:rPr dirty="0"/>
              <a:t> </a:t>
            </a:r>
            <a:r>
              <a:rPr dirty="0" err="1"/>
              <a:t>Hinweis</a:t>
            </a:r>
            <a:r>
              <a:rPr dirty="0"/>
              <a:t>: Eine Regel, die in 2.647 von 2.647 </a:t>
            </a:r>
            <a:r>
              <a:rPr dirty="0" err="1"/>
              <a:t>Faellen</a:t>
            </a:r>
            <a:endParaRPr dirty="0"/>
          </a:p>
          <a:p>
            <a:r>
              <a:rPr dirty="0" err="1"/>
              <a:t>ausnahmslos</a:t>
            </a:r>
            <a:r>
              <a:rPr dirty="0"/>
              <a:t> gilt, und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Versandart</a:t>
            </a:r>
            <a:r>
              <a:rPr dirty="0"/>
              <a:t>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jeden</a:t>
            </a:r>
            <a:r>
              <a:rPr dirty="0"/>
              <a:t> </a:t>
            </a:r>
            <a:r>
              <a:rPr dirty="0" err="1"/>
              <a:t>Einfluss</a:t>
            </a:r>
            <a:r>
              <a:rPr dirty="0"/>
              <a:t> - das </a:t>
            </a:r>
            <a:r>
              <a:rPr dirty="0" err="1"/>
              <a:t>gibt</a:t>
            </a:r>
            <a:r>
              <a:rPr dirty="0"/>
              <a:t> es in </a:t>
            </a:r>
            <a:r>
              <a:rPr dirty="0" err="1"/>
              <a:t>echten</a:t>
            </a:r>
            <a:endParaRPr dirty="0"/>
          </a:p>
          <a:p>
            <a:r>
              <a:rPr dirty="0" err="1"/>
              <a:t>Betriebsdaten</a:t>
            </a:r>
            <a:r>
              <a:rPr dirty="0"/>
              <a:t> nicht. Der </a:t>
            </a:r>
            <a:r>
              <a:rPr dirty="0" err="1"/>
              <a:t>Datensatz</a:t>
            </a:r>
            <a:r>
              <a:rPr dirty="0"/>
              <a:t> </a:t>
            </a:r>
            <a:r>
              <a:rPr dirty="0" err="1"/>
              <a:t>duerfte</a:t>
            </a:r>
            <a:r>
              <a:rPr dirty="0"/>
              <a:t> </a:t>
            </a:r>
            <a:r>
              <a:rPr dirty="0" err="1"/>
              <a:t>teilweise</a:t>
            </a:r>
            <a:r>
              <a:rPr dirty="0"/>
              <a:t> </a:t>
            </a:r>
            <a:r>
              <a:rPr dirty="0" err="1"/>
              <a:t>kuenstlich</a:t>
            </a:r>
            <a:r>
              <a:rPr dirty="0"/>
              <a:t> </a:t>
            </a:r>
            <a:r>
              <a:rPr dirty="0" err="1"/>
              <a:t>erzeugt</a:t>
            </a:r>
            <a:r>
              <a:rPr dirty="0"/>
              <a:t> sein.</a:t>
            </a:r>
          </a:p>
          <a:p>
            <a:endParaRPr dirty="0"/>
          </a:p>
          <a:p>
            <a:r>
              <a:rPr dirty="0"/>
              <a:t>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Scheitern</a:t>
            </a:r>
            <a:r>
              <a:rPr dirty="0"/>
              <a:t> der </a:t>
            </a:r>
            <a:r>
              <a:rPr dirty="0" err="1"/>
              <a:t>Analyse</a:t>
            </a:r>
            <a:r>
              <a:rPr dirty="0"/>
              <a:t>, </a:t>
            </a:r>
            <a:r>
              <a:rPr dirty="0" err="1"/>
              <a:t>sondern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Ergebnis</a:t>
            </a:r>
            <a:r>
              <a:rPr dirty="0"/>
              <a:t> der </a:t>
            </a:r>
            <a:r>
              <a:rPr dirty="0" err="1"/>
              <a:t>Analyse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[9:30 - 10:00  |  30 Sekunden]</a:t>
            </a:r>
          </a:p>
          <a:p>
            <a:endParaRPr/>
          </a:p>
          <a:p>
            <a:r>
              <a:t>Nur die ersten beiden Punkte ansprechen,</a:t>
            </a:r>
          </a:p>
          <a:p>
            <a:r>
              <a:t>die anderen stehen zum Nachlesen da.</a:t>
            </a:r>
          </a:p>
          <a:p>
            <a:endParaRPr/>
          </a:p>
          <a:p>
            <a:r>
              <a:t>Punkt 1 ist der groesste Hebel: bessere Daten. Schon das Bestelldatum allein - also</a:t>
            </a:r>
          </a:p>
          <a:p>
            <a:r>
              <a:t>Saison und Wochentag - wuerde vermutlich mehr bringen als alle bisherigen Merkmale</a:t>
            </a:r>
          </a:p>
          <a:p>
            <a:r>
              <a:t>zusammen.</a:t>
            </a:r>
          </a:p>
          <a:p>
            <a:endParaRPr/>
          </a:p>
          <a:p>
            <a:r>
              <a:t>Punkt 2 ist der schnellste Gewinn: Die Entscheidungsschwelle von 50 Prozent senken.</a:t>
            </a:r>
          </a:p>
          <a:p>
            <a:r>
              <a:t>Das Modell warnt dadurch haeufiger, findet mehr Verspaetungen und kostet nichts -</a:t>
            </a:r>
          </a:p>
          <a:p>
            <a:r>
              <a:t>kein neues Training noetig. Genau das Recall-Problem von vorhin.</a:t>
            </a:r>
          </a:p>
          <a:p>
            <a:endParaRPr/>
          </a:p>
          <a:p>
            <a:r>
              <a:t>Abschluss: "Vielen Dank - gerne Fragen."</a:t>
            </a:r>
          </a:p>
          <a:p>
            <a:endParaRPr/>
          </a:p>
          <a:p>
            <a:r>
              <a:t>PUFFER: Falls die Zeit knapp wird, diese Folie in 15 Sekunden abhandeln.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650570"/>
            <a:ext cx="10058400" cy="2680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de-CH" sz="3200" dirty="0">
                <a:solidFill>
                  <a:srgbClr val="52514E"/>
                </a:solidFill>
              </a:rPr>
              <a:t>Transferarbeit Data-Science</a:t>
            </a:r>
            <a:endParaRPr lang="de-DE" sz="32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de-CH" sz="46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sz="4600" b="1" dirty="0" err="1">
                <a:solidFill>
                  <a:srgbClr val="0B0B0B"/>
                </a:solidFill>
                <a:latin typeface="Calibri"/>
              </a:rPr>
              <a:t>Kommt</a:t>
            </a:r>
            <a:r>
              <a:rPr sz="4600" b="1" dirty="0">
                <a:solidFill>
                  <a:srgbClr val="0B0B0B"/>
                </a:solidFill>
                <a:latin typeface="Calibri"/>
              </a:rPr>
              <a:t> die </a:t>
            </a:r>
            <a:r>
              <a:rPr sz="4600" b="1" dirty="0" err="1">
                <a:solidFill>
                  <a:srgbClr val="0B0B0B"/>
                </a:solidFill>
                <a:latin typeface="Calibri"/>
              </a:rPr>
              <a:t>Lieferung</a:t>
            </a:r>
            <a:r>
              <a:rPr sz="4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4600" b="1" dirty="0" err="1">
                <a:solidFill>
                  <a:srgbClr val="0B0B0B"/>
                </a:solidFill>
                <a:latin typeface="Calibri"/>
              </a:rPr>
              <a:t>pünktlich</a:t>
            </a:r>
            <a:r>
              <a:rPr sz="4600" b="1" dirty="0">
                <a:solidFill>
                  <a:srgbClr val="0B0B0B"/>
                </a:solidFill>
                <a:latin typeface="Calibri"/>
              </a:rPr>
              <a:t> an?</a:t>
            </a:r>
          </a:p>
          <a:p>
            <a:pPr>
              <a:lnSpc>
                <a:spcPct val="120000"/>
              </a:lnSpc>
              <a:spcBef>
                <a:spcPts val="1600"/>
              </a:spcBef>
            </a:pPr>
            <a:r>
              <a:rPr sz="2200" b="0" dirty="0" err="1">
                <a:solidFill>
                  <a:srgbClr val="52514E"/>
                </a:solidFill>
                <a:latin typeface="Calibri"/>
              </a:rPr>
              <a:t>Vorhersage</a:t>
            </a:r>
            <a:r>
              <a:rPr sz="2200" b="0" dirty="0">
                <a:solidFill>
                  <a:srgbClr val="52514E"/>
                </a:solidFill>
                <a:latin typeface="Calibri"/>
              </a:rPr>
              <a:t> von </a:t>
            </a:r>
            <a:r>
              <a:rPr sz="2200" b="0" dirty="0" err="1">
                <a:solidFill>
                  <a:srgbClr val="52514E"/>
                </a:solidFill>
                <a:latin typeface="Calibri"/>
              </a:rPr>
              <a:t>Lieferverspätungen</a:t>
            </a:r>
            <a:r>
              <a:rPr sz="2200" b="0" dirty="0">
                <a:solidFill>
                  <a:srgbClr val="52514E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52514E"/>
                </a:solidFill>
                <a:latin typeface="Calibri"/>
              </a:rPr>
              <a:t>im</a:t>
            </a:r>
            <a:r>
              <a:rPr sz="2200" b="0" dirty="0">
                <a:solidFill>
                  <a:srgbClr val="52514E"/>
                </a:solidFill>
                <a:latin typeface="Calibri"/>
              </a:rPr>
              <a:t> E-Commerce</a:t>
            </a:r>
            <a:endParaRPr lang="de-DE" sz="2200"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A8E9D8E-6D7C-42D2-D842-57F0146DC61D}"/>
              </a:ext>
            </a:extLst>
          </p:cNvPr>
          <p:cNvSpPr txBox="1"/>
          <p:nvPr/>
        </p:nvSpPr>
        <p:spPr>
          <a:xfrm>
            <a:off x="9064959" y="6271560"/>
            <a:ext cx="2804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Von Binh Tran &amp; Sheryl Leutenegger</a:t>
            </a:r>
            <a:endParaRPr lang="de-CH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1. Datensatz und Business-Fragestellung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51460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 dirty="0">
                <a:solidFill>
                  <a:srgbClr val="2A78D6"/>
                </a:solidFill>
                <a:latin typeface="Calibri"/>
              </a:rPr>
              <a:t>10.999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Bestellungen</a:t>
            </a:r>
            <a:endParaRPr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93592" y="1920240"/>
            <a:ext cx="251460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 dirty="0">
                <a:solidFill>
                  <a:srgbClr val="2A78D6"/>
                </a:solidFill>
                <a:latin typeface="Calibri"/>
              </a:rPr>
              <a:t>11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Merkmale</a:t>
            </a:r>
            <a:endParaRPr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64224" y="1920240"/>
            <a:ext cx="251460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 dirty="0">
                <a:solidFill>
                  <a:srgbClr val="EB6834"/>
                </a:solidFill>
                <a:latin typeface="Calibri"/>
              </a:rPr>
              <a:t>59,7 %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kamen</a:t>
            </a:r>
            <a:r>
              <a:rPr b="0" dirty="0">
                <a:solidFill>
                  <a:srgbClr val="52514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zu</a:t>
            </a:r>
            <a:r>
              <a:rPr b="0" dirty="0">
                <a:solidFill>
                  <a:srgbClr val="52514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spät</a:t>
            </a:r>
            <a:endParaRPr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34856" y="1920240"/>
            <a:ext cx="251460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 dirty="0">
                <a:solidFill>
                  <a:srgbClr val="2A78D6"/>
                </a:solidFill>
                <a:latin typeface="Calibri"/>
              </a:rPr>
              <a:t>0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fehlende</a:t>
            </a:r>
            <a:r>
              <a:rPr b="0" dirty="0">
                <a:solidFill>
                  <a:srgbClr val="52514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Werte</a:t>
            </a:r>
            <a:endParaRPr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10545775" cy="1371600"/>
          </a:xfrm>
          <a:prstGeom prst="rect">
            <a:avLst/>
          </a:prstGeom>
          <a:solidFill>
            <a:srgbClr val="F4F7FB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56032" rIns="320040" rtlCol="0" anchor="ctr"/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2400" b="1" dirty="0">
                <a:solidFill>
                  <a:srgbClr val="2A78D6"/>
                </a:solidFill>
                <a:latin typeface="Calibri"/>
              </a:rPr>
              <a:t>Business-</a:t>
            </a:r>
            <a:r>
              <a:rPr sz="2400" b="1" dirty="0" err="1">
                <a:solidFill>
                  <a:srgbClr val="2A78D6"/>
                </a:solidFill>
                <a:latin typeface="Calibri"/>
              </a:rPr>
              <a:t>Fragestellung</a:t>
            </a:r>
            <a:r>
              <a:rPr lang="de-DE" sz="2400" b="1" dirty="0">
                <a:solidFill>
                  <a:srgbClr val="2A78D6"/>
                </a:solidFill>
                <a:latin typeface="Calibri"/>
              </a:rPr>
              <a:t>:</a:t>
            </a:r>
            <a:endParaRPr sz="2400" b="1" dirty="0">
              <a:solidFill>
                <a:srgbClr val="2A78D6"/>
              </a:solidFill>
              <a:latin typeface="Calibri"/>
            </a:endParaRP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2600" b="1" dirty="0" err="1">
                <a:solidFill>
                  <a:srgbClr val="0B0B0B"/>
                </a:solidFill>
                <a:latin typeface="Calibri"/>
              </a:rPr>
              <a:t>Lässt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sich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frühzeitig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erkennen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,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ob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eine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Sendung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sich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0B0B0B"/>
                </a:solidFill>
                <a:latin typeface="Calibri"/>
              </a:rPr>
              <a:t>verspätet</a:t>
            </a:r>
            <a:r>
              <a:rPr sz="2600" b="1" dirty="0">
                <a:solidFill>
                  <a:srgbClr val="0B0B0B"/>
                </a:solidFill>
                <a:latin typeface="Calibri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304" y="53949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0" dirty="0" err="1">
                <a:solidFill>
                  <a:srgbClr val="52514E"/>
                </a:solidFill>
                <a:latin typeface="Calibri"/>
              </a:rPr>
              <a:t>Binäre</a:t>
            </a:r>
            <a:r>
              <a:rPr sz="1700" b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52514E"/>
                </a:solidFill>
                <a:latin typeface="Calibri"/>
              </a:rPr>
              <a:t>Klassifikation</a:t>
            </a:r>
            <a:r>
              <a:rPr sz="1700" b="0" dirty="0">
                <a:solidFill>
                  <a:srgbClr val="52514E"/>
                </a:solidFill>
                <a:latin typeface="Calibri"/>
              </a:rPr>
              <a:t>   ·   0 = </a:t>
            </a:r>
            <a:r>
              <a:rPr sz="1700" b="0" dirty="0" err="1">
                <a:solidFill>
                  <a:srgbClr val="52514E"/>
                </a:solidFill>
                <a:latin typeface="Calibri"/>
              </a:rPr>
              <a:t>pünktlich</a:t>
            </a:r>
            <a:r>
              <a:rPr sz="1700" b="0" dirty="0">
                <a:solidFill>
                  <a:srgbClr val="52514E"/>
                </a:solidFill>
                <a:latin typeface="Calibri"/>
              </a:rPr>
              <a:t>, 1 = </a:t>
            </a:r>
            <a:r>
              <a:rPr sz="1700" b="0" dirty="0" err="1">
                <a:solidFill>
                  <a:srgbClr val="52514E"/>
                </a:solidFill>
                <a:latin typeface="Calibri"/>
              </a:rPr>
              <a:t>verspätet</a:t>
            </a:r>
            <a:endParaRPr sz="1700"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Calibri"/>
              </a:rPr>
              <a:t>E-Commerce Lieferprognose  |  1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2. Erkenntnisse aus der Datenanalyse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3171" y="1248068"/>
            <a:ext cx="5980796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0" dirty="0">
                <a:latin typeface="Calibri"/>
              </a:rPr>
              <a:t>Der </a:t>
            </a:r>
            <a:r>
              <a:rPr sz="2000" b="0" dirty="0" err="1">
                <a:latin typeface="Calibri"/>
              </a:rPr>
              <a:t>Rabatt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ist</a:t>
            </a:r>
            <a:r>
              <a:rPr sz="2000" b="0" dirty="0">
                <a:latin typeface="Calibri"/>
              </a:rPr>
              <a:t> der </a:t>
            </a:r>
            <a:r>
              <a:rPr sz="2000" b="0" dirty="0" err="1">
                <a:latin typeface="Calibri"/>
              </a:rPr>
              <a:t>stärkste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Hinweis</a:t>
            </a:r>
            <a:r>
              <a:rPr sz="2000" b="0" dirty="0">
                <a:latin typeface="Calibri"/>
              </a:rPr>
              <a:t> auf </a:t>
            </a:r>
            <a:r>
              <a:rPr sz="2000" b="0" dirty="0" err="1">
                <a:latin typeface="Calibri"/>
              </a:rPr>
              <a:t>eine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Verspätung</a:t>
            </a:r>
            <a:endParaRPr sz="2000" b="0" dirty="0">
              <a:latin typeface="Calibri"/>
            </a:endParaRPr>
          </a:p>
        </p:txBody>
      </p:sp>
      <p:pic>
        <p:nvPicPr>
          <p:cNvPr id="5" name="Picture 4" descr="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89" y="1910883"/>
            <a:ext cx="5285171" cy="4384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2148839"/>
            <a:ext cx="5059375" cy="1416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b="0" dirty="0">
                <a:latin typeface="Calibri"/>
              </a:rPr>
              <a:t>Ø </a:t>
            </a:r>
            <a:r>
              <a:rPr b="0" dirty="0" err="1">
                <a:latin typeface="Calibri"/>
              </a:rPr>
              <a:t>Rabatt</a:t>
            </a:r>
            <a:endParaRPr b="0" dirty="0">
              <a:latin typeface="Calibri"/>
            </a:endParaRP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2400" b="1" dirty="0" err="1">
                <a:solidFill>
                  <a:srgbClr val="0B0B0B"/>
                </a:solidFill>
                <a:latin typeface="Calibri"/>
              </a:rPr>
              <a:t>pünktlich</a:t>
            </a:r>
            <a:r>
              <a:rPr sz="2400" b="1" dirty="0">
                <a:solidFill>
                  <a:srgbClr val="0B0B0B"/>
                </a:solidFill>
                <a:latin typeface="Calibri"/>
              </a:rPr>
              <a:t>  5,6 %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2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verspätet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 18,7 %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280561"/>
              </p:ext>
            </p:extLst>
          </p:nvPr>
        </p:nvGraphicFramePr>
        <p:xfrm>
          <a:off x="6309360" y="3814686"/>
          <a:ext cx="5272734" cy="125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0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Rabatt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Anzahl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verspätet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 – 10 %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8.352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47 %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0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über 10 %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2.647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5336784"/>
            <a:ext cx="5059375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Eine </a:t>
            </a:r>
            <a:r>
              <a:rPr sz="2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harte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Schwelle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, </a:t>
            </a:r>
            <a:r>
              <a:rPr sz="2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keine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accent6">
                    <a:lumMod val="75000"/>
                  </a:schemeClr>
                </a:solidFill>
                <a:latin typeface="Calibri"/>
              </a:rPr>
              <a:t>Steigung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Calibri"/>
              </a:rPr>
              <a:t>E-Commerce Lieferprognose  |  2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2. Erkenntnisse aus der Datenanalyse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59" y="1203464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19956" y="1268097"/>
            <a:ext cx="10545775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0" dirty="0">
                <a:latin typeface="Calibri"/>
              </a:rPr>
              <a:t>Beim </a:t>
            </a:r>
            <a:r>
              <a:rPr sz="2000" b="0" dirty="0" err="1">
                <a:latin typeface="Calibri"/>
              </a:rPr>
              <a:t>Gewicht</a:t>
            </a:r>
            <a:r>
              <a:rPr sz="2000" b="0" dirty="0">
                <a:latin typeface="Calibri"/>
              </a:rPr>
              <a:t>: </a:t>
            </a:r>
            <a:r>
              <a:rPr sz="2000" b="0" dirty="0" err="1">
                <a:latin typeface="Calibri"/>
              </a:rPr>
              <a:t>ein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kritisches</a:t>
            </a:r>
            <a:r>
              <a:rPr sz="2000" b="0" dirty="0">
                <a:latin typeface="Calibri"/>
              </a:rPr>
              <a:t> Fenster in der Mitte</a:t>
            </a:r>
          </a:p>
        </p:txBody>
      </p:sp>
      <p:pic>
        <p:nvPicPr>
          <p:cNvPr id="5" name="Picture 4" descr="k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808" y="1756733"/>
            <a:ext cx="5953001" cy="4873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55861" y="1832107"/>
            <a:ext cx="5150815" cy="255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700" b="0" dirty="0">
                <a:latin typeface="Calibri"/>
              </a:rPr>
              <a:t>1 – 2 kg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2200" b="1" dirty="0">
                <a:solidFill>
                  <a:srgbClr val="0B0B0B"/>
                </a:solidFill>
                <a:latin typeface="Calibri"/>
              </a:rPr>
              <a:t>68 % </a:t>
            </a:r>
            <a:r>
              <a:rPr sz="2200" b="1" dirty="0" err="1">
                <a:solidFill>
                  <a:srgbClr val="0B0B0B"/>
                </a:solidFill>
                <a:latin typeface="Calibri"/>
              </a:rPr>
              <a:t>verspätet</a:t>
            </a:r>
            <a:endParaRPr sz="22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0" dirty="0">
                <a:latin typeface="Calibri"/>
              </a:rPr>
              <a:t>2 – 4 kg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2200" b="1" dirty="0">
                <a:solidFill>
                  <a:srgbClr val="EB6834"/>
                </a:solidFill>
                <a:latin typeface="Calibri"/>
              </a:rPr>
              <a:t>~100 % </a:t>
            </a:r>
            <a:r>
              <a:rPr sz="2200" b="1" dirty="0" err="1">
                <a:solidFill>
                  <a:srgbClr val="EB6834"/>
                </a:solidFill>
                <a:latin typeface="Calibri"/>
              </a:rPr>
              <a:t>verspätet</a:t>
            </a:r>
            <a:endParaRPr sz="2200" b="1" dirty="0">
              <a:solidFill>
                <a:srgbClr val="EB6834"/>
              </a:solidFill>
              <a:latin typeface="Calibri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sz="1700" b="0" dirty="0">
                <a:latin typeface="Calibri"/>
              </a:rPr>
              <a:t>4 – 6 kg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2200" b="1" dirty="0">
                <a:solidFill>
                  <a:srgbClr val="0B0B0B"/>
                </a:solidFill>
                <a:latin typeface="Calibri"/>
              </a:rPr>
              <a:t>43 % </a:t>
            </a:r>
            <a:r>
              <a:rPr sz="2200" b="1" dirty="0" err="1">
                <a:solidFill>
                  <a:srgbClr val="0B0B0B"/>
                </a:solidFill>
                <a:latin typeface="Calibri"/>
              </a:rPr>
              <a:t>verspätet</a:t>
            </a:r>
            <a:endParaRPr sz="2200" b="1" dirty="0">
              <a:solidFill>
                <a:srgbClr val="0B0B0B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55860" y="4562928"/>
            <a:ext cx="5150815" cy="1371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 dirty="0">
                <a:solidFill>
                  <a:srgbClr val="2A78D6"/>
                </a:solidFill>
                <a:latin typeface="Calibri"/>
              </a:rPr>
              <a:t>Zwei </a:t>
            </a:r>
            <a:r>
              <a:rPr sz="2000" b="1" dirty="0" err="1">
                <a:solidFill>
                  <a:srgbClr val="2A78D6"/>
                </a:solidFill>
                <a:latin typeface="Calibri"/>
              </a:rPr>
              <a:t>neue</a:t>
            </a:r>
            <a:r>
              <a:rPr sz="2000" b="1" dirty="0">
                <a:solidFill>
                  <a:srgbClr val="2A78D6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2A78D6"/>
                </a:solidFill>
                <a:latin typeface="Calibri"/>
              </a:rPr>
              <a:t>Merkmale</a:t>
            </a:r>
            <a:endParaRPr sz="2000" b="1" dirty="0">
              <a:solidFill>
                <a:srgbClr val="2A78D6"/>
              </a:solidFill>
              <a:latin typeface="Calibri"/>
            </a:endParaRP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2000" b="0" dirty="0" err="1">
                <a:solidFill>
                  <a:srgbClr val="0B0B0B"/>
                </a:solidFill>
                <a:latin typeface="Calibri"/>
              </a:rPr>
              <a:t>High_discount</a:t>
            </a:r>
            <a:r>
              <a:rPr sz="2000" b="0" dirty="0">
                <a:solidFill>
                  <a:srgbClr val="0B0B0B"/>
                </a:solidFill>
                <a:latin typeface="Calibri"/>
              </a:rPr>
              <a:t>        0,40 → 0,46</a:t>
            </a:r>
          </a:p>
          <a:p>
            <a:pPr>
              <a:lnSpc>
                <a:spcPct val="125000"/>
              </a:lnSpc>
              <a:spcBef>
                <a:spcPts val="400"/>
              </a:spcBef>
            </a:pPr>
            <a:r>
              <a:rPr sz="2000" b="0" dirty="0" err="1">
                <a:latin typeface="Calibri"/>
              </a:rPr>
              <a:t>Weight_critical</a:t>
            </a:r>
            <a:r>
              <a:rPr sz="2000" b="0" dirty="0">
                <a:latin typeface="Calibri"/>
              </a:rPr>
              <a:t>     –0,27 → 0,36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Calibri"/>
              </a:rPr>
              <a:t>E-Commerce Lieferprognose  |  2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3. Modellwahl und Ergebnisse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38119" y="1280952"/>
            <a:ext cx="10545775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0" dirty="0">
                <a:latin typeface="Calibri"/>
              </a:rPr>
              <a:t>Zwei </a:t>
            </a:r>
            <a:r>
              <a:rPr sz="2000" b="0" dirty="0" err="1">
                <a:latin typeface="Calibri"/>
              </a:rPr>
              <a:t>bewusst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unterschiedliche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Ansätze</a:t>
            </a:r>
            <a:endParaRPr sz="2000" b="0" dirty="0"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0811"/>
            <a:ext cx="5120640" cy="2707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200" b="1" dirty="0">
                <a:solidFill>
                  <a:srgbClr val="2A78D6"/>
                </a:solidFill>
                <a:latin typeface="Calibri"/>
              </a:rPr>
              <a:t>Logistic Regression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de-DE" dirty="0">
                <a:latin typeface="Calibri"/>
              </a:rPr>
              <a:t>E</a:t>
            </a:r>
            <a:r>
              <a:rPr b="0" dirty="0">
                <a:latin typeface="Calibri"/>
              </a:rPr>
              <a:t>in </a:t>
            </a:r>
            <a:r>
              <a:rPr b="0" dirty="0" err="1">
                <a:latin typeface="Calibri"/>
              </a:rPr>
              <a:t>Punktesystem</a:t>
            </a:r>
            <a:r>
              <a:rPr lang="de-DE" dirty="0">
                <a:latin typeface="Calibri"/>
              </a:rPr>
              <a:t>:</a:t>
            </a:r>
            <a:r>
              <a:rPr b="0" dirty="0">
                <a:latin typeface="Calibri"/>
              </a:rPr>
              <a:t> </a:t>
            </a:r>
            <a:br>
              <a:rPr lang="de-DE" b="0" dirty="0">
                <a:latin typeface="Calibri"/>
              </a:rPr>
            </a:br>
            <a:r>
              <a:rPr b="0" dirty="0" err="1">
                <a:latin typeface="Calibri"/>
              </a:rPr>
              <a:t>einfach</a:t>
            </a:r>
            <a:r>
              <a:rPr b="0" dirty="0">
                <a:latin typeface="Calibri"/>
              </a:rPr>
              <a:t>, </a:t>
            </a:r>
            <a:r>
              <a:rPr b="0" dirty="0" err="1">
                <a:latin typeface="Calibri"/>
              </a:rPr>
              <a:t>nachvollziehbar</a:t>
            </a:r>
            <a:endParaRPr b="0" dirty="0">
              <a:latin typeface="Calibri"/>
            </a:endParaRPr>
          </a:p>
          <a:p>
            <a:pPr>
              <a:lnSpc>
                <a:spcPct val="125000"/>
              </a:lnSpc>
              <a:spcBef>
                <a:spcPts val="2400"/>
              </a:spcBef>
            </a:pPr>
            <a:r>
              <a:rPr sz="2200" b="1" dirty="0">
                <a:solidFill>
                  <a:srgbClr val="2A78D6"/>
                </a:solidFill>
                <a:latin typeface="Calibri"/>
              </a:rPr>
              <a:t>Random Forest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b="0" dirty="0">
                <a:latin typeface="Calibri"/>
              </a:rPr>
              <a:t>300 </a:t>
            </a:r>
            <a:r>
              <a:rPr b="0" dirty="0" err="1">
                <a:latin typeface="Calibri"/>
              </a:rPr>
              <a:t>Bäume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stimmen</a:t>
            </a:r>
            <a:r>
              <a:rPr b="0" dirty="0">
                <a:latin typeface="Calibri"/>
              </a:rPr>
              <a:t> ab</a:t>
            </a:r>
            <a:r>
              <a:rPr lang="de-DE" b="0" dirty="0">
                <a:latin typeface="Calibri"/>
              </a:rPr>
              <a:t>: </a:t>
            </a:r>
            <a:br>
              <a:rPr lang="de-DE" b="0" dirty="0">
                <a:latin typeface="Calibri"/>
              </a:rPr>
            </a:br>
            <a:r>
              <a:rPr b="0" dirty="0" err="1">
                <a:latin typeface="Calibri"/>
              </a:rPr>
              <a:t>findet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Schwellen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selbst</a:t>
            </a:r>
            <a:endParaRPr b="0" dirty="0"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0" y="1855583"/>
            <a:ext cx="4876495" cy="44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 dirty="0">
                <a:solidFill>
                  <a:srgbClr val="0B0B0B"/>
                </a:solidFill>
                <a:latin typeface="Calibri"/>
              </a:rPr>
              <a:t>2.200 </a:t>
            </a:r>
            <a:r>
              <a:rPr sz="2000" b="1" dirty="0" err="1">
                <a:solidFill>
                  <a:srgbClr val="0B0B0B"/>
                </a:solidFill>
                <a:latin typeface="Calibri"/>
              </a:rPr>
              <a:t>Testbestellungen</a:t>
            </a:r>
            <a:endParaRPr sz="2000" b="1" dirty="0">
              <a:solidFill>
                <a:srgbClr val="0B0B0B"/>
              </a:solidFill>
              <a:latin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129641"/>
              </p:ext>
            </p:extLst>
          </p:nvPr>
        </p:nvGraphicFramePr>
        <p:xfrm>
          <a:off x="6096000" y="2304167"/>
          <a:ext cx="5638797" cy="2447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59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LogReg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R. Forest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T="36576" marB="36576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5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0,672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0,678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0,597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59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0,997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0,962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0,597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55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0,452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0,479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T="36576" marB="36576">
                    <a:solidFill>
                      <a:srgbClr val="FD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5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0,622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B0B0B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B0B0B"/>
                          </a:solidFill>
                          <a:latin typeface="Calibri"/>
                        </a:rPr>
                        <a:t>0,747</a:t>
                      </a:r>
                    </a:p>
                  </a:txBody>
                  <a:tcPr marT="36576" marB="36576">
                    <a:solidFill>
                      <a:srgbClr val="F7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66493" y="5101233"/>
            <a:ext cx="1054577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200" b="1" dirty="0">
                <a:solidFill>
                  <a:srgbClr val="0B0B0B"/>
                </a:solidFill>
                <a:latin typeface="Calibri"/>
              </a:rPr>
              <a:t>Precision 0,96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warnt</a:t>
            </a:r>
            <a:r>
              <a:rPr b="0" dirty="0">
                <a:solidFill>
                  <a:srgbClr val="52514E"/>
                </a:solidFill>
                <a:latin typeface="Calibri"/>
              </a:rPr>
              <a:t> es,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stimmt</a:t>
            </a:r>
            <a:r>
              <a:rPr b="0" dirty="0">
                <a:solidFill>
                  <a:srgbClr val="52514E"/>
                </a:solidFill>
                <a:latin typeface="Calibri"/>
              </a:rPr>
              <a:t>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093" y="5101233"/>
            <a:ext cx="3657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200" b="1" dirty="0">
                <a:solidFill>
                  <a:srgbClr val="EB6834"/>
                </a:solidFill>
                <a:latin typeface="Calibri"/>
              </a:rPr>
              <a:t>Recall 0,48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findet</a:t>
            </a:r>
            <a:r>
              <a:rPr b="0" dirty="0">
                <a:solidFill>
                  <a:srgbClr val="52514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nur</a:t>
            </a:r>
            <a:r>
              <a:rPr b="0" dirty="0">
                <a:solidFill>
                  <a:srgbClr val="52514E"/>
                </a:solidFill>
                <a:latin typeface="Calibri"/>
              </a:rPr>
              <a:t> die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Hälfte</a:t>
            </a:r>
            <a:endParaRPr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15933" y="5101233"/>
            <a:ext cx="3657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200" b="1" dirty="0">
                <a:solidFill>
                  <a:srgbClr val="EB6834"/>
                </a:solidFill>
                <a:latin typeface="Calibri"/>
              </a:rPr>
              <a:t>684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b="0" dirty="0" err="1">
                <a:solidFill>
                  <a:srgbClr val="52514E"/>
                </a:solidFill>
                <a:latin typeface="Calibri"/>
              </a:rPr>
              <a:t>Verspätungen</a:t>
            </a:r>
            <a:r>
              <a:rPr b="0" dirty="0">
                <a:solidFill>
                  <a:srgbClr val="52514E"/>
                </a:solidFill>
                <a:latin typeface="Calibri"/>
              </a:rPr>
              <a:t> </a:t>
            </a:r>
            <a:r>
              <a:rPr b="0" dirty="0" err="1">
                <a:solidFill>
                  <a:srgbClr val="52514E"/>
                </a:solidFill>
                <a:latin typeface="Calibri"/>
              </a:rPr>
              <a:t>übersehen</a:t>
            </a:r>
            <a:endParaRPr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Calibri"/>
              </a:rPr>
              <a:t>E-Commerce Lieferprognose  |  3 /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3. Modellwahl und Ergebnisse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12655" y="1258154"/>
            <a:ext cx="10545775" cy="4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0" dirty="0" err="1">
                <a:latin typeface="Calibri"/>
              </a:rPr>
              <a:t>Woran</a:t>
            </a:r>
            <a:r>
              <a:rPr sz="2000" b="0" dirty="0">
                <a:latin typeface="Calibri"/>
              </a:rPr>
              <a:t> das Modell seine </a:t>
            </a:r>
            <a:r>
              <a:rPr sz="2000" b="0" dirty="0" err="1">
                <a:latin typeface="Calibri"/>
              </a:rPr>
              <a:t>Entscheidung</a:t>
            </a:r>
            <a:r>
              <a:rPr sz="2000" b="0" dirty="0">
                <a:latin typeface="Calibri"/>
              </a:rPr>
              <a:t> </a:t>
            </a:r>
            <a:r>
              <a:rPr sz="2000" b="0" dirty="0" err="1">
                <a:latin typeface="Calibri"/>
              </a:rPr>
              <a:t>festmacht</a:t>
            </a:r>
            <a:endParaRPr sz="2000" b="0" dirty="0">
              <a:latin typeface="Calibri"/>
            </a:endParaRPr>
          </a:p>
        </p:txBody>
      </p:sp>
      <p:pic>
        <p:nvPicPr>
          <p:cNvPr id="5" name="Picture 4" descr="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96795"/>
            <a:ext cx="6553573" cy="48819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95574" y="2073643"/>
            <a:ext cx="4419295" cy="321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0" dirty="0" err="1">
                <a:latin typeface="Calibri"/>
              </a:rPr>
              <a:t>Rabatt</a:t>
            </a:r>
            <a:r>
              <a:rPr lang="de-DE" sz="2000" b="0" dirty="0">
                <a:latin typeface="Calibri"/>
              </a:rPr>
              <a:t>:</a:t>
            </a:r>
            <a:endParaRPr sz="2000" b="0" dirty="0"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3200" b="1" dirty="0">
                <a:solidFill>
                  <a:srgbClr val="2A78D6"/>
                </a:solidFill>
                <a:latin typeface="Calibri"/>
              </a:rPr>
              <a:t>65 %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2000" b="0" dirty="0" err="1">
                <a:latin typeface="Calibri"/>
              </a:rPr>
              <a:t>Gewicht</a:t>
            </a:r>
            <a:r>
              <a:rPr lang="de-DE" sz="2000" b="0" dirty="0">
                <a:latin typeface="Calibri"/>
              </a:rPr>
              <a:t>:</a:t>
            </a:r>
            <a:endParaRPr sz="2000" b="0" dirty="0"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3200" b="1" dirty="0">
                <a:solidFill>
                  <a:srgbClr val="2A78D6"/>
                </a:solidFill>
                <a:latin typeface="Calibri"/>
              </a:rPr>
              <a:t>23 %</a:t>
            </a: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sz="2000" b="0" dirty="0">
                <a:latin typeface="Calibri"/>
              </a:rPr>
              <a:t>alle </a:t>
            </a:r>
            <a:r>
              <a:rPr sz="2000" b="0" dirty="0" err="1">
                <a:latin typeface="Calibri"/>
              </a:rPr>
              <a:t>übrigen</a:t>
            </a:r>
            <a:r>
              <a:rPr sz="2000" b="0" dirty="0">
                <a:latin typeface="Calibri"/>
              </a:rPr>
              <a:t> 13 </a:t>
            </a:r>
            <a:r>
              <a:rPr sz="2000" b="0" dirty="0" err="1">
                <a:latin typeface="Calibri"/>
              </a:rPr>
              <a:t>Merkmale</a:t>
            </a:r>
            <a:r>
              <a:rPr lang="de-DE" sz="2000" b="0" dirty="0">
                <a:latin typeface="Calibri"/>
              </a:rPr>
              <a:t>:</a:t>
            </a:r>
            <a:endParaRPr sz="2000" b="0" dirty="0">
              <a:latin typeface="Calibri"/>
            </a:endParaRP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2800" b="1" dirty="0" err="1">
                <a:solidFill>
                  <a:srgbClr val="898781"/>
                </a:solidFill>
                <a:latin typeface="Calibri"/>
              </a:rPr>
              <a:t>unter</a:t>
            </a:r>
            <a:r>
              <a:rPr sz="2800" b="1" dirty="0">
                <a:solidFill>
                  <a:srgbClr val="898781"/>
                </a:solidFill>
                <a:latin typeface="Calibri"/>
              </a:rPr>
              <a:t> 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5575" y="5468033"/>
            <a:ext cx="4419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000" b="1" dirty="0" err="1">
                <a:solidFill>
                  <a:srgbClr val="EB6834"/>
                </a:solidFill>
                <a:latin typeface="Calibri"/>
              </a:rPr>
              <a:t>Entweder</a:t>
            </a:r>
            <a:r>
              <a:rPr sz="2000" b="1" dirty="0">
                <a:solidFill>
                  <a:srgbClr val="EB6834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EB6834"/>
                </a:solidFill>
                <a:latin typeface="Calibri"/>
              </a:rPr>
              <a:t>sicher</a:t>
            </a:r>
            <a:r>
              <a:rPr sz="2000" b="1" dirty="0">
                <a:solidFill>
                  <a:srgbClr val="EB6834"/>
                </a:solidFill>
                <a:latin typeface="Calibri"/>
              </a:rPr>
              <a:t> oder </a:t>
            </a:r>
            <a:r>
              <a:rPr sz="2000" b="1" dirty="0" err="1">
                <a:solidFill>
                  <a:srgbClr val="EB6834"/>
                </a:solidFill>
                <a:latin typeface="Calibri"/>
              </a:rPr>
              <a:t>Münzwurf</a:t>
            </a:r>
            <a:r>
              <a:rPr sz="2000" b="1" dirty="0">
                <a:solidFill>
                  <a:srgbClr val="EB6834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Calibri"/>
              </a:rPr>
              <a:t>E-Commerce Lieferprognose  |  3 /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4. Fazit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2993" y="1149576"/>
            <a:ext cx="10545775" cy="1280160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320040" rtlCol="0" anchor="ctr"/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2400" b="1" dirty="0" err="1">
                <a:solidFill>
                  <a:schemeClr val="tx1"/>
                </a:solidFill>
                <a:latin typeface="Calibri"/>
              </a:rPr>
              <a:t>Lässt</a:t>
            </a:r>
            <a:r>
              <a:rPr sz="2400" b="1" dirty="0">
                <a:solidFill>
                  <a:schemeClr val="tx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Calibri"/>
              </a:rPr>
              <a:t>sich</a:t>
            </a:r>
            <a:r>
              <a:rPr sz="2400" b="1" dirty="0">
                <a:solidFill>
                  <a:schemeClr val="tx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Calibri"/>
              </a:rPr>
              <a:t>eine</a:t>
            </a:r>
            <a:r>
              <a:rPr sz="2400" b="1" dirty="0">
                <a:solidFill>
                  <a:schemeClr val="tx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Calibri"/>
              </a:rPr>
              <a:t>Verspätung</a:t>
            </a:r>
            <a:r>
              <a:rPr lang="de-CH" sz="2400" b="1" dirty="0">
                <a:solidFill>
                  <a:schemeClr val="tx1"/>
                </a:solidFill>
              </a:rPr>
              <a:t>frühzeitig</a:t>
            </a:r>
            <a:r>
              <a:rPr sz="2400" b="1" dirty="0">
                <a:solidFill>
                  <a:schemeClr val="tx1"/>
                </a:solidFill>
                <a:latin typeface="Calibri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Calibri"/>
              </a:rPr>
              <a:t>erkennen</a:t>
            </a:r>
            <a:r>
              <a:rPr sz="2400" b="1" dirty="0">
                <a:solidFill>
                  <a:schemeClr val="tx1"/>
                </a:solidFill>
                <a:latin typeface="Calibri"/>
              </a:rPr>
              <a:t>?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2400" dirty="0" err="1">
                <a:solidFill>
                  <a:srgbClr val="0B0B0B"/>
                </a:solidFill>
                <a:latin typeface="Calibri"/>
              </a:rPr>
              <a:t>Teilweise</a:t>
            </a:r>
            <a:r>
              <a:rPr lang="de-DE" sz="2400" dirty="0">
                <a:solidFill>
                  <a:srgbClr val="0B0B0B"/>
                </a:solidFill>
                <a:latin typeface="Calibri"/>
              </a:rPr>
              <a:t>: </a:t>
            </a:r>
            <a:r>
              <a:rPr sz="2400" dirty="0">
                <a:solidFill>
                  <a:srgbClr val="0B0B0B"/>
                </a:solidFill>
                <a:latin typeface="Calibri"/>
              </a:rPr>
              <a:t>für </a:t>
            </a:r>
            <a:r>
              <a:rPr sz="2400" dirty="0" err="1">
                <a:solidFill>
                  <a:srgbClr val="0B0B0B"/>
                </a:solidFill>
                <a:latin typeface="Calibri"/>
              </a:rPr>
              <a:t>ein</a:t>
            </a:r>
            <a:r>
              <a:rPr sz="2400" dirty="0">
                <a:solidFill>
                  <a:srgbClr val="0B0B0B"/>
                </a:solidFill>
                <a:latin typeface="Calibri"/>
              </a:rPr>
              <a:t> Viertel der </a:t>
            </a:r>
            <a:r>
              <a:rPr sz="2400" dirty="0" err="1">
                <a:solidFill>
                  <a:srgbClr val="0B0B0B"/>
                </a:solidFill>
                <a:latin typeface="Calibri"/>
              </a:rPr>
              <a:t>Bestellungen</a:t>
            </a:r>
            <a:r>
              <a:rPr sz="2400" dirty="0">
                <a:solidFill>
                  <a:srgbClr val="0B0B0B"/>
                </a:solidFill>
                <a:latin typeface="Calibr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59" y="3103104"/>
            <a:ext cx="338328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 dirty="0">
                <a:solidFill>
                  <a:srgbClr val="2A78D6"/>
                </a:solidFill>
                <a:latin typeface="Calibri"/>
              </a:rPr>
              <a:t>26 %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1600" b="0" dirty="0" err="1">
                <a:solidFill>
                  <a:srgbClr val="52514E"/>
                </a:solidFill>
                <a:latin typeface="Calibri"/>
              </a:rPr>
              <a:t>zuverlässig</a:t>
            </a:r>
            <a:r>
              <a:rPr sz="1600" b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2514E"/>
                </a:solidFill>
                <a:latin typeface="Calibri"/>
              </a:rPr>
              <a:t>vorhersagbar</a:t>
            </a:r>
            <a:endParaRPr sz="1600"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1999" y="3103104"/>
            <a:ext cx="338328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 dirty="0">
                <a:solidFill>
                  <a:srgbClr val="898781"/>
                </a:solidFill>
                <a:latin typeface="Calibri"/>
              </a:rPr>
              <a:t>74 %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1600" b="0" dirty="0" err="1">
                <a:solidFill>
                  <a:srgbClr val="52514E"/>
                </a:solidFill>
                <a:latin typeface="Calibri"/>
              </a:rPr>
              <a:t>kaum</a:t>
            </a:r>
            <a:r>
              <a:rPr sz="1600" b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2514E"/>
                </a:solidFill>
                <a:latin typeface="Calibri"/>
              </a:rPr>
              <a:t>besser</a:t>
            </a:r>
            <a:r>
              <a:rPr sz="1600" b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2514E"/>
                </a:solidFill>
                <a:latin typeface="Calibri"/>
              </a:rPr>
              <a:t>als</a:t>
            </a:r>
            <a:r>
              <a:rPr sz="1600" b="0" dirty="0">
                <a:solidFill>
                  <a:srgbClr val="52514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2514E"/>
                </a:solidFill>
                <a:latin typeface="Calibri"/>
              </a:rPr>
              <a:t>Raten</a:t>
            </a:r>
            <a:endParaRPr sz="1600" b="0" dirty="0">
              <a:solidFill>
                <a:srgbClr val="52514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1039" y="3103104"/>
            <a:ext cx="338328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64592" rIns="13716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4000" b="1">
                <a:solidFill>
                  <a:srgbClr val="EB6834"/>
                </a:solidFill>
                <a:latin typeface="Calibri"/>
              </a:rPr>
              <a:t>48 %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1600" b="0">
                <a:solidFill>
                  <a:srgbClr val="52514E"/>
                </a:solidFill>
                <a:latin typeface="Calibri"/>
              </a:rPr>
              <a:t>der Verspätungen erkannt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703304"/>
            <a:ext cx="10545775" cy="113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2800" b="1" dirty="0">
                <a:solidFill>
                  <a:srgbClr val="0B0B0B"/>
                </a:solidFill>
                <a:latin typeface="Calibri"/>
              </a:rPr>
              <a:t>Das Modell </a:t>
            </a:r>
            <a:r>
              <a:rPr sz="2800" b="1" dirty="0" err="1">
                <a:solidFill>
                  <a:srgbClr val="0B0B0B"/>
                </a:solidFill>
                <a:latin typeface="Calibri"/>
              </a:rPr>
              <a:t>scheitert</a:t>
            </a:r>
            <a:r>
              <a:rPr sz="2800" b="1" dirty="0">
                <a:solidFill>
                  <a:srgbClr val="0B0B0B"/>
                </a:solidFill>
                <a:latin typeface="Calibri"/>
              </a:rPr>
              <a:t> nicht am </a:t>
            </a:r>
            <a:r>
              <a:rPr sz="2800" b="1" dirty="0" err="1">
                <a:solidFill>
                  <a:srgbClr val="0B0B0B"/>
                </a:solidFill>
                <a:latin typeface="Calibri"/>
              </a:rPr>
              <a:t>Verfahren</a:t>
            </a:r>
            <a:r>
              <a:rPr sz="2800" b="1" dirty="0">
                <a:solidFill>
                  <a:srgbClr val="0B0B0B"/>
                </a:solidFill>
                <a:latin typeface="Calibri"/>
              </a:rPr>
              <a:t>, </a:t>
            </a:r>
            <a:r>
              <a:rPr sz="2800" b="1" dirty="0" err="1">
                <a:solidFill>
                  <a:srgbClr val="0B0B0B"/>
                </a:solidFill>
                <a:latin typeface="Calibri"/>
              </a:rPr>
              <a:t>sondern</a:t>
            </a:r>
            <a:r>
              <a:rPr sz="2800" b="1" dirty="0">
                <a:solidFill>
                  <a:srgbClr val="0B0B0B"/>
                </a:solidFill>
                <a:latin typeface="Calibri"/>
              </a:rPr>
              <a:t> am </a:t>
            </a:r>
            <a:r>
              <a:rPr sz="2800" b="1" dirty="0" err="1">
                <a:solidFill>
                  <a:srgbClr val="0B0B0B"/>
                </a:solidFill>
                <a:latin typeface="Calibri"/>
              </a:rPr>
              <a:t>Datensatz</a:t>
            </a:r>
            <a:r>
              <a:rPr sz="2800" b="1" dirty="0">
                <a:solidFill>
                  <a:srgbClr val="0B0B0B"/>
                </a:solidFill>
                <a:latin typeface="Calibri"/>
              </a:rPr>
              <a:t>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2400" b="0" dirty="0" err="1">
                <a:latin typeface="Calibri"/>
              </a:rPr>
              <a:t>Entfernung</a:t>
            </a:r>
            <a:r>
              <a:rPr sz="2400" b="0" dirty="0">
                <a:latin typeface="Calibri"/>
              </a:rPr>
              <a:t>, Wetter, Zoll, Saison</a:t>
            </a:r>
            <a:r>
              <a:rPr lang="de-DE" sz="2400" b="0" dirty="0">
                <a:latin typeface="Calibri"/>
              </a:rPr>
              <a:t> -&gt; </a:t>
            </a:r>
            <a:r>
              <a:rPr sz="2400" b="0" dirty="0">
                <a:latin typeface="Calibri"/>
              </a:rPr>
              <a:t>nicht </a:t>
            </a:r>
            <a:r>
              <a:rPr sz="2400" b="0" dirty="0" err="1">
                <a:latin typeface="Calibri"/>
              </a:rPr>
              <a:t>erfasst</a:t>
            </a:r>
            <a:r>
              <a:rPr sz="2400" b="0" dirty="0"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898781"/>
                </a:solidFill>
                <a:latin typeface="Calibri"/>
              </a:rPr>
              <a:t>E-Commerce Lieferprognose  |  4 /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114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0B0B0B"/>
                </a:solidFill>
                <a:latin typeface="Calibri"/>
              </a:rPr>
              <a:t>4. Verbesserungsmöglichkeiten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0545775" cy="317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841662"/>
            <a:ext cx="548640" cy="5486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68510"/>
            <a:ext cx="9677095" cy="86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dirty="0" err="1">
                <a:solidFill>
                  <a:srgbClr val="0B0B0B"/>
                </a:solidFill>
                <a:latin typeface="Calibri"/>
              </a:rPr>
              <a:t>Bessere</a:t>
            </a:r>
            <a:r>
              <a:rPr sz="24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B0B0B"/>
                </a:solidFill>
                <a:latin typeface="Calibri"/>
              </a:rPr>
              <a:t>Daten</a:t>
            </a:r>
            <a:r>
              <a:rPr sz="24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B0B0B"/>
                </a:solidFill>
                <a:latin typeface="Calibri"/>
              </a:rPr>
              <a:t>erheben</a:t>
            </a:r>
            <a:endParaRPr sz="24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0" dirty="0" err="1">
                <a:latin typeface="Calibri"/>
              </a:rPr>
              <a:t>Bestelldatum</a:t>
            </a:r>
            <a:r>
              <a:rPr b="0" dirty="0">
                <a:latin typeface="Calibri"/>
              </a:rPr>
              <a:t>, Saison, </a:t>
            </a:r>
            <a:r>
              <a:rPr b="0" dirty="0" err="1">
                <a:latin typeface="Calibri"/>
              </a:rPr>
              <a:t>Entfernung</a:t>
            </a:r>
            <a:r>
              <a:rPr b="0" dirty="0">
                <a:latin typeface="Calibri"/>
              </a:rPr>
              <a:t>, Wetter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93222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820070"/>
            <a:ext cx="9677095" cy="86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dirty="0" err="1">
                <a:solidFill>
                  <a:srgbClr val="0B0B0B"/>
                </a:solidFill>
                <a:latin typeface="Calibri"/>
              </a:rPr>
              <a:t>Entscheidungsschwelle</a:t>
            </a:r>
            <a:r>
              <a:rPr sz="24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B0B0B"/>
                </a:solidFill>
                <a:latin typeface="Calibri"/>
              </a:rPr>
              <a:t>senken</a:t>
            </a:r>
            <a:endParaRPr sz="24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0" dirty="0" err="1">
                <a:latin typeface="Calibri"/>
              </a:rPr>
              <a:t>mehr</a:t>
            </a:r>
            <a:r>
              <a:rPr b="0" dirty="0">
                <a:latin typeface="Calibri"/>
              </a:rPr>
              <a:t> Recall, </a:t>
            </a:r>
            <a:r>
              <a:rPr b="0" dirty="0" err="1">
                <a:latin typeface="Calibri"/>
              </a:rPr>
              <a:t>kostenlos</a:t>
            </a:r>
            <a:r>
              <a:rPr b="0" dirty="0">
                <a:latin typeface="Calibri"/>
              </a:rPr>
              <a:t>, </a:t>
            </a:r>
            <a:r>
              <a:rPr b="0" dirty="0" err="1">
                <a:latin typeface="Calibri"/>
              </a:rPr>
              <a:t>kein</a:t>
            </a:r>
            <a:r>
              <a:rPr b="0" dirty="0">
                <a:latin typeface="Calibri"/>
              </a:rPr>
              <a:t> </a:t>
            </a:r>
            <a:r>
              <a:rPr b="0" dirty="0" err="1">
                <a:latin typeface="Calibri"/>
              </a:rPr>
              <a:t>neues</a:t>
            </a:r>
            <a:r>
              <a:rPr b="0" dirty="0">
                <a:latin typeface="Calibri"/>
              </a:rPr>
              <a:t> Training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944782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871630"/>
            <a:ext cx="9677095" cy="86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dirty="0">
                <a:solidFill>
                  <a:srgbClr val="0B0B0B"/>
                </a:solidFill>
                <a:latin typeface="Calibri"/>
              </a:rPr>
              <a:t>Gradient Boosting </a:t>
            </a:r>
            <a:r>
              <a:rPr sz="2400" b="1" dirty="0" err="1">
                <a:solidFill>
                  <a:srgbClr val="0B0B0B"/>
                </a:solidFill>
                <a:latin typeface="Calibri"/>
              </a:rPr>
              <a:t>testen</a:t>
            </a:r>
            <a:endParaRPr sz="24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0" dirty="0" err="1">
                <a:latin typeface="Calibri"/>
              </a:rPr>
              <a:t>XGBoost</a:t>
            </a:r>
            <a:r>
              <a:rPr b="0" dirty="0">
                <a:latin typeface="Calibri"/>
              </a:rPr>
              <a:t> oder </a:t>
            </a:r>
            <a:r>
              <a:rPr b="0" dirty="0" err="1">
                <a:latin typeface="Calibri"/>
              </a:rPr>
              <a:t>LightGBM</a:t>
            </a:r>
            <a:endParaRPr b="0" dirty="0"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" y="4996342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923190"/>
            <a:ext cx="9677095" cy="860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dirty="0" err="1">
                <a:solidFill>
                  <a:srgbClr val="0B0B0B"/>
                </a:solidFill>
                <a:latin typeface="Calibri"/>
              </a:rPr>
              <a:t>Schwellen</a:t>
            </a:r>
            <a:r>
              <a:rPr sz="24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B0B0B"/>
                </a:solidFill>
                <a:latin typeface="Calibri"/>
              </a:rPr>
              <a:t>automatisch</a:t>
            </a:r>
            <a:r>
              <a:rPr sz="2400" b="1" dirty="0">
                <a:solidFill>
                  <a:srgbClr val="0B0B0B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0B0B0B"/>
                </a:solidFill>
                <a:latin typeface="Calibri"/>
              </a:rPr>
              <a:t>bestimmen</a:t>
            </a:r>
            <a:endParaRPr sz="2400" b="1" dirty="0">
              <a:solidFill>
                <a:srgbClr val="0B0B0B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b="0" dirty="0" err="1">
                <a:latin typeface="Calibri"/>
              </a:rPr>
              <a:t>statt</a:t>
            </a:r>
            <a:r>
              <a:rPr b="0" dirty="0">
                <a:latin typeface="Calibri"/>
              </a:rPr>
              <a:t> von Hand </a:t>
            </a:r>
            <a:r>
              <a:rPr b="0" dirty="0" err="1">
                <a:latin typeface="Calibri"/>
              </a:rPr>
              <a:t>abgelesen</a:t>
            </a:r>
            <a:endParaRPr b="0" dirty="0"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28650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</a:pPr>
            <a:r>
              <a:rPr sz="1100" b="0" dirty="0">
                <a:solidFill>
                  <a:srgbClr val="898781"/>
                </a:solidFill>
                <a:latin typeface="Calibri"/>
              </a:rPr>
              <a:t>E-Commerce </a:t>
            </a:r>
            <a:r>
              <a:rPr sz="1100" b="0" dirty="0" err="1">
                <a:solidFill>
                  <a:srgbClr val="898781"/>
                </a:solidFill>
                <a:latin typeface="Calibri"/>
              </a:rPr>
              <a:t>Lieferprognose</a:t>
            </a:r>
            <a:r>
              <a:rPr sz="1100" b="0" dirty="0">
                <a:solidFill>
                  <a:srgbClr val="898781"/>
                </a:solidFill>
                <a:latin typeface="Calibri"/>
              </a:rPr>
              <a:t>  |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26cbb6b-32d8-453b-9760-5b9bdc5d87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C18E0BCA9DB114EA98D0D475E8CDBF8" ma:contentTypeVersion="10" ma:contentTypeDescription="Ein neues Dokument erstellen." ma:contentTypeScope="" ma:versionID="208bb178b5640a75646635f2f1d597fd">
  <xsd:schema xmlns:xsd="http://www.w3.org/2001/XMLSchema" xmlns:xs="http://www.w3.org/2001/XMLSchema" xmlns:p="http://schemas.microsoft.com/office/2006/metadata/properties" xmlns:ns3="726cbb6b-32d8-453b-9760-5b9bdc5d8775" targetNamespace="http://schemas.microsoft.com/office/2006/metadata/properties" ma:root="true" ma:fieldsID="030daa81be8e43e3978217183910225f" ns3:_="">
    <xsd:import namespace="726cbb6b-32d8-453b-9760-5b9bdc5d877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bb6b-32d8-453b-9760-5b9bdc5d877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3BEE23-31FA-4B17-A315-FD6671934AF4}">
  <ds:schemaRefs>
    <ds:schemaRef ds:uri="726cbb6b-32d8-453b-9760-5b9bdc5d8775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82F58DE-BB3D-405B-A631-D814FAD686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CED69D-FDFE-4C8F-970D-C8B8B2D73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6cbb6b-32d8-453b-9760-5b9bdc5d87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1351</Words>
  <Application>Microsoft Office PowerPoint</Application>
  <PresentationFormat>Breitbild</PresentationFormat>
  <Paragraphs>243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Sheryl Leutenegger</dc:creator>
  <cp:keywords/>
  <dc:description>generated using python-pptx</dc:description>
  <cp:lastModifiedBy>Sheryl Leutenegger</cp:lastModifiedBy>
  <cp:revision>3</cp:revision>
  <dcterms:created xsi:type="dcterms:W3CDTF">2013-01-27T09:14:16Z</dcterms:created>
  <dcterms:modified xsi:type="dcterms:W3CDTF">2026-09-20T15:36:05Z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0x0101001C18E0BCA9DB114EA98D0D475E8CDBF8</vt:lpwstr>
  </property>
</Properties>
</file>